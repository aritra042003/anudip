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png" ContentType="image/pn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EC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F4DD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95350" y="0"/>
            <a:ext cx="0" cy="5943600"/>
          </a:xfrm>
          <a:custGeom>
            <a:avLst/>
            <a:gdLst/>
            <a:ahLst/>
            <a:cxnLst/>
            <a:rect l="l" t="t" r="r" b="b"/>
            <a:pathLst>
              <a:path w="0" h="5943600">
                <a:moveTo>
                  <a:pt x="0" y="0"/>
                </a:moveTo>
                <a:lnTo>
                  <a:pt x="0" y="5943600"/>
                </a:lnTo>
              </a:path>
            </a:pathLst>
          </a:custGeom>
          <a:ln w="19050">
            <a:solidFill>
              <a:srgbClr val="DF99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7325" y="847724"/>
            <a:ext cx="8155305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7325" y="2093277"/>
            <a:ext cx="7165340" cy="3386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81367" y="6165977"/>
            <a:ext cx="234950" cy="214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 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40626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914400" cy="6858000"/>
            <a:chOff x="0" y="0"/>
            <a:chExt cx="914400" cy="6858000"/>
          </a:xfrm>
        </p:grpSpPr>
        <p:sp>
          <p:nvSpPr>
            <p:cNvPr id="4" name="object 4" descr=""/>
            <p:cNvSpPr/>
            <p:nvPr/>
          </p:nvSpPr>
          <p:spPr>
            <a:xfrm>
              <a:off x="0" y="59436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D4E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9535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w="0"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19050">
              <a:solidFill>
                <a:srgbClr val="F3EC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73150" y="2783205"/>
            <a:ext cx="6607175" cy="1718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5"/>
              </a:spcBef>
            </a:pPr>
            <a:r>
              <a:rPr dirty="0" sz="2400" spc="50" b="1">
                <a:solidFill>
                  <a:srgbClr val="FFFF00"/>
                </a:solidFill>
                <a:latin typeface="Palatino Linotype"/>
                <a:cs typeface="Palatino Linotype"/>
              </a:rPr>
              <a:t>IT</a:t>
            </a:r>
            <a:r>
              <a:rPr dirty="0" sz="2400" spc="5" b="1">
                <a:solidFill>
                  <a:srgbClr val="FFFF00"/>
                </a:solidFill>
                <a:latin typeface="Palatino Linotype"/>
                <a:cs typeface="Palatino Linotype"/>
              </a:rPr>
              <a:t> </a:t>
            </a:r>
            <a:r>
              <a:rPr dirty="0" sz="2400" b="1">
                <a:solidFill>
                  <a:srgbClr val="FFFF00"/>
                </a:solidFill>
                <a:latin typeface="Palatino Linotype"/>
                <a:cs typeface="Palatino Linotype"/>
              </a:rPr>
              <a:t>Module</a:t>
            </a:r>
            <a:r>
              <a:rPr dirty="0" sz="2400" spc="-10" b="1">
                <a:solidFill>
                  <a:srgbClr val="FFFF00"/>
                </a:solidFill>
                <a:latin typeface="Palatino Linotype"/>
                <a:cs typeface="Palatino Linotype"/>
              </a:rPr>
              <a:t> </a:t>
            </a:r>
            <a:r>
              <a:rPr dirty="0" sz="2400" spc="90" b="1">
                <a:solidFill>
                  <a:srgbClr val="FFFF00"/>
                </a:solidFill>
                <a:latin typeface="Palatino Linotype"/>
                <a:cs typeface="Palatino Linotype"/>
              </a:rPr>
              <a:t>PPT</a:t>
            </a:r>
            <a:endParaRPr sz="2400">
              <a:latin typeface="Palatino Linotype"/>
              <a:cs typeface="Palatino Linotype"/>
            </a:endParaRPr>
          </a:p>
          <a:p>
            <a:pPr marL="77470">
              <a:lnSpc>
                <a:spcPct val="100000"/>
              </a:lnSpc>
              <a:spcBef>
                <a:spcPts val="2300"/>
              </a:spcBef>
            </a:pPr>
            <a:r>
              <a:rPr dirty="0" sz="2400" spc="90" b="1">
                <a:solidFill>
                  <a:srgbClr val="FFFF00"/>
                </a:solidFill>
                <a:latin typeface="Palatino Linotype"/>
                <a:cs typeface="Palatino Linotype"/>
              </a:rPr>
              <a:t>Aritra</a:t>
            </a:r>
            <a:r>
              <a:rPr dirty="0" sz="2400" spc="-10" b="1">
                <a:solidFill>
                  <a:srgbClr val="FFFF00"/>
                </a:solidFill>
                <a:latin typeface="Palatino Linotype"/>
                <a:cs typeface="Palatino Linotype"/>
              </a:rPr>
              <a:t> </a:t>
            </a:r>
            <a:r>
              <a:rPr dirty="0" sz="2400" spc="85" b="1">
                <a:solidFill>
                  <a:srgbClr val="FFFF00"/>
                </a:solidFill>
                <a:latin typeface="Palatino Linotype"/>
                <a:cs typeface="Palatino Linotype"/>
              </a:rPr>
              <a:t>Pain</a:t>
            </a:r>
            <a:r>
              <a:rPr dirty="0" sz="2400" spc="-125" b="1">
                <a:solidFill>
                  <a:srgbClr val="FFFF00"/>
                </a:solidFill>
                <a:latin typeface="Palatino Linotype"/>
                <a:cs typeface="Palatino Linotype"/>
              </a:rPr>
              <a:t> </a:t>
            </a:r>
            <a:r>
              <a:rPr dirty="0" sz="2400" spc="-10" b="1">
                <a:solidFill>
                  <a:srgbClr val="FFFF00"/>
                </a:solidFill>
                <a:latin typeface="Palatino Linotype"/>
                <a:cs typeface="Palatino Linotype"/>
              </a:rPr>
              <a:t>(</a:t>
            </a:r>
            <a:r>
              <a:rPr dirty="0" sz="2400" spc="-10">
                <a:solidFill>
                  <a:srgbClr val="FFFF00"/>
                </a:solidFill>
                <a:latin typeface="Cambria"/>
                <a:cs typeface="Cambria"/>
              </a:rPr>
              <a:t>AF05098710</a:t>
            </a:r>
            <a:r>
              <a:rPr dirty="0" sz="2400" spc="-10" b="1">
                <a:solidFill>
                  <a:srgbClr val="FFFF00"/>
                </a:solidFill>
                <a:latin typeface="Palatino Linotype"/>
                <a:cs typeface="Palatino Linotype"/>
              </a:rPr>
              <a:t>)</a:t>
            </a:r>
            <a:endParaRPr sz="24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dirty="0" sz="2400" spc="50" b="1">
                <a:solidFill>
                  <a:srgbClr val="FFFFFF"/>
                </a:solidFill>
                <a:latin typeface="Palatino Linotype"/>
                <a:cs typeface="Palatino Linotype"/>
              </a:rPr>
              <a:t>Data</a:t>
            </a:r>
            <a:r>
              <a:rPr dirty="0" sz="2400" spc="-90" b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Palatino Linotype"/>
                <a:cs typeface="Palatino Linotype"/>
              </a:rPr>
              <a:t>Processing</a:t>
            </a:r>
            <a:r>
              <a:rPr dirty="0" sz="2400" spc="-95" b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2400" spc="60" b="1">
                <a:solidFill>
                  <a:srgbClr val="FFFFFF"/>
                </a:solidFill>
                <a:latin typeface="Palatino Linotype"/>
                <a:cs typeface="Palatino Linotype"/>
              </a:rPr>
              <a:t>&amp;</a:t>
            </a:r>
            <a:r>
              <a:rPr dirty="0" sz="2400" spc="-20" b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2400" spc="50" b="1">
                <a:solidFill>
                  <a:srgbClr val="FFFFFF"/>
                </a:solidFill>
                <a:latin typeface="Palatino Linotype"/>
                <a:cs typeface="Palatino Linotype"/>
              </a:rPr>
              <a:t>Business</a:t>
            </a:r>
            <a:r>
              <a:rPr dirty="0" sz="2400" spc="-130" b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2400" spc="55" b="1">
                <a:solidFill>
                  <a:srgbClr val="FFFFFF"/>
                </a:solidFill>
                <a:latin typeface="Palatino Linotype"/>
                <a:cs typeface="Palatino Linotype"/>
              </a:rPr>
              <a:t>Analysis</a:t>
            </a:r>
            <a:r>
              <a:rPr dirty="0" sz="2400" spc="-125" b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2400" spc="75" b="1">
                <a:solidFill>
                  <a:srgbClr val="FFFFFF"/>
                </a:solidFill>
                <a:latin typeface="Palatino Linotype"/>
                <a:cs typeface="Palatino Linotype"/>
              </a:rPr>
              <a:t>(D3870)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AF0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95350" y="0"/>
            <a:ext cx="0" cy="5943600"/>
          </a:xfrm>
          <a:custGeom>
            <a:avLst/>
            <a:gdLst/>
            <a:ahLst/>
            <a:cxnLst/>
            <a:rect l="l" t="t" r="r" b="b"/>
            <a:pathLst>
              <a:path w="0" h="5943600">
                <a:moveTo>
                  <a:pt x="0" y="0"/>
                </a:moveTo>
                <a:lnTo>
                  <a:pt x="0" y="5943600"/>
                </a:lnTo>
              </a:path>
            </a:pathLst>
          </a:custGeom>
          <a:ln w="19050">
            <a:solidFill>
              <a:srgbClr val="4062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443989" y="3073780"/>
            <a:ext cx="1610995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130">
                <a:latin typeface="Cambria"/>
                <a:cs typeface="Cambria"/>
              </a:rPr>
              <a:t>Agenda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380734" y="529018"/>
            <a:ext cx="4435475" cy="526224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>
                <a:latin typeface="Tahoma"/>
                <a:cs typeface="Tahoma"/>
              </a:rPr>
              <a:t>Introduction</a:t>
            </a:r>
            <a:r>
              <a:rPr dirty="0" sz="1850" spc="-2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to</a:t>
            </a:r>
            <a:r>
              <a:rPr dirty="0" sz="1850" spc="5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Information</a:t>
            </a:r>
            <a:r>
              <a:rPr dirty="0" sz="1850" spc="60">
                <a:latin typeface="Tahoma"/>
                <a:cs typeface="Tahoma"/>
              </a:rPr>
              <a:t> </a:t>
            </a:r>
            <a:r>
              <a:rPr dirty="0" sz="1850" spc="-10">
                <a:latin typeface="Tahoma"/>
                <a:cs typeface="Tahoma"/>
              </a:rPr>
              <a:t>Technology</a:t>
            </a:r>
            <a:endParaRPr sz="185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 spc="60">
                <a:latin typeface="Tahoma"/>
                <a:cs typeface="Tahoma"/>
              </a:rPr>
              <a:t>Role</a:t>
            </a:r>
            <a:r>
              <a:rPr dirty="0" sz="1850" spc="-4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of </a:t>
            </a:r>
            <a:r>
              <a:rPr dirty="0" sz="1850" spc="-110">
                <a:latin typeface="Tahoma"/>
                <a:cs typeface="Tahoma"/>
              </a:rPr>
              <a:t>IT</a:t>
            </a:r>
            <a:r>
              <a:rPr dirty="0" sz="1850" spc="-4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in</a:t>
            </a:r>
            <a:r>
              <a:rPr dirty="0" sz="1850" spc="40">
                <a:latin typeface="Tahoma"/>
                <a:cs typeface="Tahoma"/>
              </a:rPr>
              <a:t> </a:t>
            </a:r>
            <a:r>
              <a:rPr dirty="0" sz="1850" spc="70">
                <a:latin typeface="Tahoma"/>
                <a:cs typeface="Tahoma"/>
              </a:rPr>
              <a:t>Modern</a:t>
            </a:r>
            <a:r>
              <a:rPr dirty="0" sz="1850" spc="40">
                <a:latin typeface="Tahoma"/>
                <a:cs typeface="Tahoma"/>
              </a:rPr>
              <a:t> </a:t>
            </a:r>
            <a:r>
              <a:rPr dirty="0" sz="1850" spc="60">
                <a:latin typeface="Tahoma"/>
                <a:cs typeface="Tahoma"/>
              </a:rPr>
              <a:t>Business</a:t>
            </a:r>
            <a:endParaRPr sz="1850">
              <a:latin typeface="Tahoma"/>
              <a:cs typeface="Tahoma"/>
            </a:endParaRPr>
          </a:p>
          <a:p>
            <a:pPr marL="240665" marR="445134" indent="-228600">
              <a:lnSpc>
                <a:spcPts val="1800"/>
              </a:lnSpc>
              <a:spcBef>
                <a:spcPts val="11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 spc="70">
                <a:latin typeface="Tahoma"/>
                <a:cs typeface="Tahoma"/>
              </a:rPr>
              <a:t>Business</a:t>
            </a:r>
            <a:r>
              <a:rPr dirty="0" sz="1850">
                <a:latin typeface="Tahoma"/>
                <a:cs typeface="Tahoma"/>
              </a:rPr>
              <a:t> </a:t>
            </a:r>
            <a:r>
              <a:rPr dirty="0" sz="1850" spc="80">
                <a:latin typeface="Tahoma"/>
                <a:cs typeface="Tahoma"/>
              </a:rPr>
              <a:t>Systems</a:t>
            </a:r>
            <a:r>
              <a:rPr dirty="0" sz="1850" spc="5">
                <a:latin typeface="Tahoma"/>
                <a:cs typeface="Tahoma"/>
              </a:rPr>
              <a:t> </a:t>
            </a:r>
            <a:r>
              <a:rPr dirty="0" sz="1850" spc="55">
                <a:latin typeface="Tahoma"/>
                <a:cs typeface="Tahoma"/>
              </a:rPr>
              <a:t>Overview</a:t>
            </a:r>
            <a:r>
              <a:rPr dirty="0" sz="1850" spc="-15">
                <a:latin typeface="Tahoma"/>
                <a:cs typeface="Tahoma"/>
              </a:rPr>
              <a:t> </a:t>
            </a:r>
            <a:r>
              <a:rPr dirty="0" sz="1850" spc="-10">
                <a:latin typeface="Tahoma"/>
                <a:cs typeface="Tahoma"/>
              </a:rPr>
              <a:t>(ERP, </a:t>
            </a:r>
            <a:r>
              <a:rPr dirty="0" sz="1850" spc="145">
                <a:latin typeface="Tahoma"/>
                <a:cs typeface="Tahoma"/>
              </a:rPr>
              <a:t>CRM,</a:t>
            </a:r>
            <a:r>
              <a:rPr dirty="0" sz="1850" spc="-50">
                <a:latin typeface="Tahoma"/>
                <a:cs typeface="Tahoma"/>
              </a:rPr>
              <a:t> </a:t>
            </a:r>
            <a:r>
              <a:rPr dirty="0" sz="1850" spc="-25">
                <a:latin typeface="Tahoma"/>
                <a:cs typeface="Tahoma"/>
              </a:rPr>
              <a:t>BI)</a:t>
            </a:r>
            <a:endParaRPr sz="185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>
                <a:latin typeface="Tahoma"/>
                <a:cs typeface="Tahoma"/>
              </a:rPr>
              <a:t>Enterprise</a:t>
            </a:r>
            <a:r>
              <a:rPr dirty="0" sz="1850" spc="105">
                <a:latin typeface="Tahoma"/>
                <a:cs typeface="Tahoma"/>
              </a:rPr>
              <a:t> </a:t>
            </a:r>
            <a:r>
              <a:rPr dirty="0" sz="1850" spc="60">
                <a:latin typeface="Tahoma"/>
                <a:cs typeface="Tahoma"/>
              </a:rPr>
              <a:t>Resource</a:t>
            </a:r>
            <a:r>
              <a:rPr dirty="0" sz="1850" spc="11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Planning</a:t>
            </a:r>
            <a:r>
              <a:rPr dirty="0" sz="1850" spc="215">
                <a:latin typeface="Tahoma"/>
                <a:cs typeface="Tahoma"/>
              </a:rPr>
              <a:t> </a:t>
            </a:r>
            <a:r>
              <a:rPr dirty="0" sz="1850" spc="-10">
                <a:latin typeface="Tahoma"/>
                <a:cs typeface="Tahoma"/>
              </a:rPr>
              <a:t>(ERP)</a:t>
            </a:r>
            <a:endParaRPr sz="185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 spc="70">
                <a:latin typeface="Tahoma"/>
                <a:cs typeface="Tahoma"/>
              </a:rPr>
              <a:t>Business</a:t>
            </a:r>
            <a:r>
              <a:rPr dirty="0" sz="1850" spc="3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Strategy</a:t>
            </a:r>
            <a:r>
              <a:rPr dirty="0" sz="1850" spc="40">
                <a:latin typeface="Tahoma"/>
                <a:cs typeface="Tahoma"/>
              </a:rPr>
              <a:t> </a:t>
            </a:r>
            <a:r>
              <a:rPr dirty="0" sz="1850" spc="100">
                <a:latin typeface="Tahoma"/>
                <a:cs typeface="Tahoma"/>
              </a:rPr>
              <a:t>&amp;</a:t>
            </a:r>
            <a:r>
              <a:rPr dirty="0" sz="1850">
                <a:latin typeface="Tahoma"/>
                <a:cs typeface="Tahoma"/>
              </a:rPr>
              <a:t> </a:t>
            </a:r>
            <a:r>
              <a:rPr dirty="0" sz="1850" spc="-110">
                <a:latin typeface="Tahoma"/>
                <a:cs typeface="Tahoma"/>
              </a:rPr>
              <a:t>IT</a:t>
            </a:r>
            <a:r>
              <a:rPr dirty="0" sz="1850" spc="5">
                <a:latin typeface="Tahoma"/>
                <a:cs typeface="Tahoma"/>
              </a:rPr>
              <a:t> </a:t>
            </a:r>
            <a:r>
              <a:rPr dirty="0" sz="1850" spc="40">
                <a:latin typeface="Tahoma"/>
                <a:cs typeface="Tahoma"/>
              </a:rPr>
              <a:t>Alignment</a:t>
            </a:r>
            <a:endParaRPr sz="185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>
                <a:latin typeface="Tahoma"/>
                <a:cs typeface="Tahoma"/>
              </a:rPr>
              <a:t>Types</a:t>
            </a:r>
            <a:r>
              <a:rPr dirty="0" sz="1850" spc="5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and</a:t>
            </a:r>
            <a:r>
              <a:rPr dirty="0" sz="1850" spc="20">
                <a:latin typeface="Tahoma"/>
                <a:cs typeface="Tahoma"/>
              </a:rPr>
              <a:t> </a:t>
            </a:r>
            <a:r>
              <a:rPr dirty="0" sz="1850" spc="60">
                <a:latin typeface="Tahoma"/>
                <a:cs typeface="Tahoma"/>
              </a:rPr>
              <a:t>Sources</a:t>
            </a:r>
            <a:r>
              <a:rPr dirty="0" sz="1850" spc="5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of</a:t>
            </a:r>
            <a:r>
              <a:rPr dirty="0" sz="1850" spc="-15">
                <a:latin typeface="Tahoma"/>
                <a:cs typeface="Tahoma"/>
              </a:rPr>
              <a:t> </a:t>
            </a:r>
            <a:r>
              <a:rPr dirty="0" sz="1850" spc="-20">
                <a:latin typeface="Tahoma"/>
                <a:cs typeface="Tahoma"/>
              </a:rPr>
              <a:t>Data</a:t>
            </a:r>
            <a:endParaRPr sz="185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>
                <a:latin typeface="Tahoma"/>
                <a:cs typeface="Tahoma"/>
              </a:rPr>
              <a:t>Data</a:t>
            </a:r>
            <a:r>
              <a:rPr dirty="0" sz="1850" spc="-70">
                <a:latin typeface="Tahoma"/>
                <a:cs typeface="Tahoma"/>
              </a:rPr>
              <a:t> </a:t>
            </a:r>
            <a:r>
              <a:rPr dirty="0" sz="1850" spc="55">
                <a:latin typeface="Tahoma"/>
                <a:cs typeface="Tahoma"/>
              </a:rPr>
              <a:t>Lifecycle</a:t>
            </a:r>
            <a:r>
              <a:rPr dirty="0" sz="1850" spc="65">
                <a:latin typeface="Tahoma"/>
                <a:cs typeface="Tahoma"/>
              </a:rPr>
              <a:t> </a:t>
            </a:r>
            <a:r>
              <a:rPr dirty="0" sz="1850" spc="100">
                <a:latin typeface="Tahoma"/>
                <a:cs typeface="Tahoma"/>
              </a:rPr>
              <a:t>&amp;</a:t>
            </a:r>
            <a:r>
              <a:rPr dirty="0" sz="1850" spc="-25">
                <a:latin typeface="Tahoma"/>
                <a:cs typeface="Tahoma"/>
              </a:rPr>
              <a:t> </a:t>
            </a:r>
            <a:r>
              <a:rPr dirty="0" sz="1850" spc="-10">
                <a:latin typeface="Tahoma"/>
                <a:cs typeface="Tahoma"/>
              </a:rPr>
              <a:t>Governance</a:t>
            </a:r>
            <a:endParaRPr sz="185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 spc="60">
                <a:latin typeface="Tahoma"/>
                <a:cs typeface="Tahoma"/>
              </a:rPr>
              <a:t>Role</a:t>
            </a:r>
            <a:r>
              <a:rPr dirty="0" sz="1850" spc="-4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of</a:t>
            </a:r>
            <a:r>
              <a:rPr dirty="0" sz="1850" spc="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a</a:t>
            </a:r>
            <a:r>
              <a:rPr dirty="0" sz="1850" spc="-80">
                <a:latin typeface="Tahoma"/>
                <a:cs typeface="Tahoma"/>
              </a:rPr>
              <a:t> </a:t>
            </a:r>
            <a:r>
              <a:rPr dirty="0" sz="1850" spc="80">
                <a:latin typeface="Tahoma"/>
                <a:cs typeface="Tahoma"/>
              </a:rPr>
              <a:t>Business</a:t>
            </a:r>
            <a:r>
              <a:rPr dirty="0" sz="1850" spc="-85">
                <a:latin typeface="Tahoma"/>
                <a:cs typeface="Tahoma"/>
              </a:rPr>
              <a:t> </a:t>
            </a:r>
            <a:r>
              <a:rPr dirty="0" sz="1850" spc="-10">
                <a:latin typeface="Tahoma"/>
                <a:cs typeface="Tahoma"/>
              </a:rPr>
              <a:t>Analyst</a:t>
            </a:r>
            <a:endParaRPr sz="185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>
                <a:latin typeface="Tahoma"/>
                <a:cs typeface="Tahoma"/>
              </a:rPr>
              <a:t>Agile</a:t>
            </a:r>
            <a:r>
              <a:rPr dirty="0" sz="1850" spc="21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vs</a:t>
            </a:r>
            <a:r>
              <a:rPr dirty="0" sz="1850" spc="15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Waterfall</a:t>
            </a:r>
            <a:r>
              <a:rPr dirty="0" sz="1850" spc="150">
                <a:latin typeface="Tahoma"/>
                <a:cs typeface="Tahoma"/>
              </a:rPr>
              <a:t> </a:t>
            </a:r>
            <a:r>
              <a:rPr dirty="0" sz="1850" spc="55">
                <a:latin typeface="Tahoma"/>
                <a:cs typeface="Tahoma"/>
              </a:rPr>
              <a:t>Methodologies</a:t>
            </a:r>
            <a:endParaRPr sz="185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>
                <a:latin typeface="Tahoma"/>
                <a:cs typeface="Tahoma"/>
              </a:rPr>
              <a:t>Stakeholder</a:t>
            </a:r>
            <a:r>
              <a:rPr dirty="0" sz="1850" spc="260">
                <a:latin typeface="Tahoma"/>
                <a:cs typeface="Tahoma"/>
              </a:rPr>
              <a:t> </a:t>
            </a:r>
            <a:r>
              <a:rPr dirty="0" sz="1850" spc="55">
                <a:latin typeface="Tahoma"/>
                <a:cs typeface="Tahoma"/>
              </a:rPr>
              <a:t>Management</a:t>
            </a:r>
            <a:endParaRPr sz="185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>
                <a:latin typeface="Tahoma"/>
                <a:cs typeface="Tahoma"/>
              </a:rPr>
              <a:t>Scenario</a:t>
            </a:r>
            <a:r>
              <a:rPr dirty="0" sz="1850" spc="290">
                <a:latin typeface="Tahoma"/>
                <a:cs typeface="Tahoma"/>
              </a:rPr>
              <a:t> </a:t>
            </a:r>
            <a:r>
              <a:rPr dirty="0" sz="1850" spc="-10">
                <a:latin typeface="Tahoma"/>
                <a:cs typeface="Tahoma"/>
              </a:rPr>
              <a:t>Analysis</a:t>
            </a:r>
            <a:endParaRPr sz="185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>
                <a:latin typeface="Tahoma"/>
                <a:cs typeface="Tahoma"/>
              </a:rPr>
              <a:t>Ethical</a:t>
            </a:r>
            <a:r>
              <a:rPr dirty="0" sz="1850" spc="35">
                <a:latin typeface="Tahoma"/>
                <a:cs typeface="Tahoma"/>
              </a:rPr>
              <a:t> </a:t>
            </a:r>
            <a:r>
              <a:rPr dirty="0" sz="1850" spc="110">
                <a:latin typeface="Tahoma"/>
                <a:cs typeface="Tahoma"/>
              </a:rPr>
              <a:t>Use</a:t>
            </a:r>
            <a:r>
              <a:rPr dirty="0" sz="1850" spc="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of</a:t>
            </a:r>
            <a:r>
              <a:rPr dirty="0" sz="1850" spc="5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Data</a:t>
            </a:r>
            <a:r>
              <a:rPr dirty="0" sz="1850" spc="40">
                <a:latin typeface="Tahoma"/>
                <a:cs typeface="Tahoma"/>
              </a:rPr>
              <a:t> </a:t>
            </a:r>
            <a:r>
              <a:rPr dirty="0" sz="1850" spc="100">
                <a:latin typeface="Tahoma"/>
                <a:cs typeface="Tahoma"/>
              </a:rPr>
              <a:t>&amp;</a:t>
            </a:r>
            <a:r>
              <a:rPr dirty="0" sz="1850" spc="-5">
                <a:latin typeface="Tahoma"/>
                <a:cs typeface="Tahoma"/>
              </a:rPr>
              <a:t> </a:t>
            </a:r>
            <a:r>
              <a:rPr dirty="0" sz="1850" spc="40">
                <a:latin typeface="Tahoma"/>
                <a:cs typeface="Tahoma"/>
              </a:rPr>
              <a:t>Compliance</a:t>
            </a:r>
            <a:endParaRPr sz="185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50" spc="35">
                <a:latin typeface="Tahoma"/>
                <a:cs typeface="Tahoma"/>
              </a:rPr>
              <a:t>Conclusion</a:t>
            </a:r>
            <a:endParaRPr sz="1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AF0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95350" y="0"/>
            <a:ext cx="0" cy="5943600"/>
          </a:xfrm>
          <a:custGeom>
            <a:avLst/>
            <a:gdLst/>
            <a:ahLst/>
            <a:cxnLst/>
            <a:rect l="l" t="t" r="r" b="b"/>
            <a:pathLst>
              <a:path w="0" h="5943600">
                <a:moveTo>
                  <a:pt x="0" y="0"/>
                </a:moveTo>
                <a:lnTo>
                  <a:pt x="0" y="5943600"/>
                </a:lnTo>
              </a:path>
            </a:pathLst>
          </a:custGeom>
          <a:ln w="19050">
            <a:solidFill>
              <a:srgbClr val="4062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70"/>
              <a:t>Introduction</a:t>
            </a:r>
            <a:r>
              <a:rPr dirty="0" spc="-35"/>
              <a:t> </a:t>
            </a:r>
            <a:r>
              <a:rPr dirty="0" spc="65"/>
              <a:t>to</a:t>
            </a:r>
            <a:r>
              <a:rPr dirty="0" spc="-70"/>
              <a:t> </a:t>
            </a:r>
            <a:r>
              <a:rPr dirty="0" spc="80"/>
              <a:t>Information</a:t>
            </a:r>
            <a:r>
              <a:rPr dirty="0" spc="-35"/>
              <a:t> </a:t>
            </a:r>
            <a:r>
              <a:rPr dirty="0" spc="45"/>
              <a:t>Technology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438528" y="2089467"/>
            <a:ext cx="8079105" cy="2013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238760" marR="5080" indent="-22669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20">
                <a:latin typeface="Tahoma"/>
                <a:cs typeface="Tahoma"/>
              </a:rPr>
              <a:t>Information</a:t>
            </a:r>
            <a:r>
              <a:rPr dirty="0" sz="2000">
                <a:latin typeface="Tahoma"/>
                <a:cs typeface="Tahoma"/>
              </a:rPr>
              <a:t> Technology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195">
                <a:latin typeface="Tahoma"/>
                <a:cs typeface="Tahoma"/>
              </a:rPr>
              <a:t>(IT)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refers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use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computers,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software, </a:t>
            </a:r>
            <a:r>
              <a:rPr dirty="0" sz="2000" spc="-10">
                <a:latin typeface="Tahoma"/>
                <a:cs typeface="Tahoma"/>
              </a:rPr>
              <a:t>	</a:t>
            </a:r>
            <a:r>
              <a:rPr dirty="0" sz="2000">
                <a:latin typeface="Tahoma"/>
                <a:cs typeface="Tahoma"/>
              </a:rPr>
              <a:t>networks, </a:t>
            </a:r>
            <a:r>
              <a:rPr dirty="0" sz="2000" spc="-10">
                <a:latin typeface="Tahoma"/>
                <a:cs typeface="Tahoma"/>
              </a:rPr>
              <a:t>and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digital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systems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store, process, secure,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transmit 	information.</a:t>
            </a:r>
            <a:endParaRPr sz="2000">
              <a:latin typeface="Tahoma"/>
              <a:cs typeface="Tahoma"/>
            </a:endParaRPr>
          </a:p>
          <a:p>
            <a:pPr marL="241300" marR="294640" indent="-229235">
              <a:lnSpc>
                <a:spcPct val="100000"/>
              </a:lnSpc>
              <a:spcBef>
                <a:spcPts val="12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95">
                <a:latin typeface="Tahoma"/>
                <a:cs typeface="Tahoma"/>
              </a:rPr>
              <a:t>In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modern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organizations,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145">
                <a:latin typeface="Tahoma"/>
                <a:cs typeface="Tahoma"/>
              </a:rPr>
              <a:t>IT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is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not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just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support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function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195">
                <a:latin typeface="Tahoma"/>
                <a:cs typeface="Tahoma"/>
              </a:rPr>
              <a:t>—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it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is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a </a:t>
            </a:r>
            <a:r>
              <a:rPr dirty="0" sz="2000">
                <a:latin typeface="Tahoma"/>
                <a:cs typeface="Tahoma"/>
              </a:rPr>
              <a:t>strategic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enabler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that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drives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efficiency,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innovation,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competitive advantage.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5"/>
              <a:t>Importance</a:t>
            </a:r>
            <a:r>
              <a:rPr dirty="0" spc="-30"/>
              <a:t> </a:t>
            </a:r>
            <a:r>
              <a:rPr dirty="0" spc="114"/>
              <a:t>of</a:t>
            </a:r>
            <a:r>
              <a:rPr dirty="0" spc="-55"/>
              <a:t> </a:t>
            </a:r>
            <a:r>
              <a:rPr dirty="0"/>
              <a:t>IT</a:t>
            </a:r>
            <a:r>
              <a:rPr dirty="0" spc="-40"/>
              <a:t> </a:t>
            </a:r>
            <a:r>
              <a:rPr dirty="0" spc="105"/>
              <a:t>in</a:t>
            </a:r>
            <a:r>
              <a:rPr dirty="0" spc="-45"/>
              <a:t> </a:t>
            </a:r>
            <a:r>
              <a:rPr dirty="0" spc="80"/>
              <a:t>Modern</a:t>
            </a:r>
            <a:r>
              <a:rPr dirty="0" spc="-40"/>
              <a:t> </a:t>
            </a:r>
            <a:r>
              <a:rPr dirty="0" spc="45"/>
              <a:t>Business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83752"/>
            <a:ext cx="8779510" cy="21374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25"/>
              </a:spcBef>
              <a:buChar char="•"/>
              <a:tabLst>
                <a:tab pos="211454" algn="l"/>
              </a:tabLst>
            </a:pPr>
            <a:r>
              <a:rPr dirty="0" sz="2000">
                <a:latin typeface="Tahoma"/>
                <a:cs typeface="Tahoma"/>
              </a:rPr>
              <a:t>Automates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business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processes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and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reduces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manual</a:t>
            </a:r>
            <a:r>
              <a:rPr dirty="0" sz="2000" spc="6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errors</a:t>
            </a:r>
            <a:endParaRPr sz="2000">
              <a:latin typeface="Tahoma"/>
              <a:cs typeface="Tahoma"/>
            </a:endParaRPr>
          </a:p>
          <a:p>
            <a:pPr lvl="1" marL="281305" indent="-198755">
              <a:lnSpc>
                <a:spcPct val="100000"/>
              </a:lnSpc>
              <a:spcBef>
                <a:spcPts val="5"/>
              </a:spcBef>
              <a:buChar char="•"/>
              <a:tabLst>
                <a:tab pos="281305" algn="l"/>
              </a:tabLst>
            </a:pPr>
            <a:r>
              <a:rPr dirty="0" sz="2000">
                <a:latin typeface="Tahoma"/>
                <a:cs typeface="Tahoma"/>
              </a:rPr>
              <a:t>Enables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fast communication </a:t>
            </a:r>
            <a:r>
              <a:rPr dirty="0" sz="2000" spc="-25">
                <a:latin typeface="Tahoma"/>
                <a:cs typeface="Tahoma"/>
              </a:rPr>
              <a:t>(email,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video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conferencing,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collaboration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tools)</a:t>
            </a:r>
            <a:endParaRPr sz="2000">
              <a:latin typeface="Tahoma"/>
              <a:cs typeface="Tahoma"/>
            </a:endParaRPr>
          </a:p>
          <a:p>
            <a:pPr lvl="1" marL="281305" indent="-198755">
              <a:lnSpc>
                <a:spcPct val="100000"/>
              </a:lnSpc>
              <a:spcBef>
                <a:spcPts val="5"/>
              </a:spcBef>
              <a:buChar char="•"/>
              <a:tabLst>
                <a:tab pos="281305" algn="l"/>
              </a:tabLst>
            </a:pPr>
            <a:r>
              <a:rPr dirty="0" sz="2000">
                <a:latin typeface="Tahoma"/>
                <a:cs typeface="Tahoma"/>
              </a:rPr>
              <a:t>Supports</a:t>
            </a:r>
            <a:r>
              <a:rPr dirty="0" sz="2000" spc="80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data-</a:t>
            </a:r>
            <a:r>
              <a:rPr dirty="0" sz="2000">
                <a:latin typeface="Tahoma"/>
                <a:cs typeface="Tahoma"/>
              </a:rPr>
              <a:t>driven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decision</a:t>
            </a:r>
            <a:r>
              <a:rPr dirty="0" sz="2000" spc="4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making</a:t>
            </a:r>
            <a:endParaRPr sz="2000">
              <a:latin typeface="Tahoma"/>
              <a:cs typeface="Tahoma"/>
            </a:endParaRPr>
          </a:p>
          <a:p>
            <a:pPr lvl="1" marL="281305" indent="-198755">
              <a:lnSpc>
                <a:spcPct val="100000"/>
              </a:lnSpc>
              <a:buChar char="•"/>
              <a:tabLst>
                <a:tab pos="281305" algn="l"/>
              </a:tabLst>
            </a:pPr>
            <a:r>
              <a:rPr dirty="0" sz="2000">
                <a:latin typeface="Tahoma"/>
                <a:cs typeface="Tahoma"/>
              </a:rPr>
              <a:t>Enhances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productivity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and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operational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efficiency</a:t>
            </a:r>
            <a:endParaRPr sz="2000">
              <a:latin typeface="Tahoma"/>
              <a:cs typeface="Tahoma"/>
            </a:endParaRPr>
          </a:p>
          <a:p>
            <a:pPr lvl="1" marL="281305" indent="-198755">
              <a:lnSpc>
                <a:spcPct val="100000"/>
              </a:lnSpc>
              <a:spcBef>
                <a:spcPts val="5"/>
              </a:spcBef>
              <a:buChar char="•"/>
              <a:tabLst>
                <a:tab pos="281305" algn="l"/>
              </a:tabLst>
            </a:pPr>
            <a:r>
              <a:rPr dirty="0" sz="2000">
                <a:latin typeface="Tahoma"/>
                <a:cs typeface="Tahoma"/>
              </a:rPr>
              <a:t>Drives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innovation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finance,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healthcare,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retail,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and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education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dirty="0" sz="2000" spc="-145">
                <a:latin typeface="Tahoma"/>
                <a:cs typeface="Tahoma"/>
              </a:rPr>
              <a:t>IT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transforms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traditional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businesses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into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digital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enterprises.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70"/>
              <a:t>Core</a:t>
            </a:r>
            <a:r>
              <a:rPr dirty="0" spc="-114"/>
              <a:t> </a:t>
            </a:r>
            <a:r>
              <a:rPr dirty="0" spc="100"/>
              <a:t>Components</a:t>
            </a:r>
            <a:r>
              <a:rPr dirty="0" spc="-10"/>
              <a:t> </a:t>
            </a:r>
            <a:r>
              <a:rPr dirty="0" spc="80"/>
              <a:t>of</a:t>
            </a:r>
            <a:r>
              <a:rPr dirty="0" spc="-70"/>
              <a:t> </a:t>
            </a:r>
            <a:r>
              <a:rPr dirty="0" spc="-25"/>
              <a:t>IT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69949" y="1905635"/>
            <a:ext cx="5870575" cy="380365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98450" marR="300990" indent="-286385">
              <a:lnSpc>
                <a:spcPts val="1880"/>
              </a:lnSpc>
              <a:spcBef>
                <a:spcPts val="47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50">
                <a:latin typeface="Tahoma"/>
                <a:cs typeface="Tahoma"/>
              </a:rPr>
              <a:t>Hardware</a:t>
            </a:r>
            <a:r>
              <a:rPr dirty="0" sz="1850" spc="114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–</a:t>
            </a:r>
            <a:r>
              <a:rPr dirty="0" sz="1850" spc="90">
                <a:latin typeface="Tahoma"/>
                <a:cs typeface="Tahoma"/>
              </a:rPr>
              <a:t> </a:t>
            </a:r>
            <a:r>
              <a:rPr dirty="0" sz="1850" spc="50">
                <a:latin typeface="Tahoma"/>
                <a:cs typeface="Tahoma"/>
              </a:rPr>
              <a:t>Computers,</a:t>
            </a:r>
            <a:r>
              <a:rPr dirty="0" sz="1850" spc="7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servers,</a:t>
            </a:r>
            <a:r>
              <a:rPr dirty="0" sz="1850" spc="7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routers,</a:t>
            </a:r>
            <a:r>
              <a:rPr dirty="0" sz="1850" spc="75">
                <a:latin typeface="Tahoma"/>
                <a:cs typeface="Tahoma"/>
              </a:rPr>
              <a:t> </a:t>
            </a:r>
            <a:r>
              <a:rPr dirty="0" sz="1850" spc="-10">
                <a:latin typeface="Tahoma"/>
                <a:cs typeface="Tahoma"/>
              </a:rPr>
              <a:t>storage </a:t>
            </a:r>
            <a:r>
              <a:rPr dirty="0" sz="1850" spc="50">
                <a:latin typeface="Tahoma"/>
                <a:cs typeface="Tahoma"/>
              </a:rPr>
              <a:t>devices</a:t>
            </a:r>
            <a:endParaRPr sz="1850">
              <a:latin typeface="Tahoma"/>
              <a:cs typeface="Tahoma"/>
            </a:endParaRPr>
          </a:p>
          <a:p>
            <a:pPr marL="298450" marR="811530" indent="-286385">
              <a:lnSpc>
                <a:spcPts val="1880"/>
              </a:lnSpc>
              <a:spcBef>
                <a:spcPts val="210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50" spc="50">
                <a:latin typeface="Tahoma"/>
                <a:cs typeface="Tahoma"/>
              </a:rPr>
              <a:t>Software</a:t>
            </a:r>
            <a:r>
              <a:rPr dirty="0" sz="1850" spc="1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–</a:t>
            </a:r>
            <a:r>
              <a:rPr dirty="0" sz="1850" spc="-1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Operating</a:t>
            </a:r>
            <a:r>
              <a:rPr dirty="0" sz="1850" spc="-20">
                <a:latin typeface="Tahoma"/>
                <a:cs typeface="Tahoma"/>
              </a:rPr>
              <a:t> </a:t>
            </a:r>
            <a:r>
              <a:rPr dirty="0" sz="1850" spc="75">
                <a:latin typeface="Tahoma"/>
                <a:cs typeface="Tahoma"/>
              </a:rPr>
              <a:t>systems</a:t>
            </a:r>
            <a:r>
              <a:rPr dirty="0" sz="1850" spc="1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and</a:t>
            </a:r>
            <a:r>
              <a:rPr dirty="0" sz="1850" spc="60">
                <a:latin typeface="Tahoma"/>
                <a:cs typeface="Tahoma"/>
              </a:rPr>
              <a:t> </a:t>
            </a:r>
            <a:r>
              <a:rPr dirty="0" sz="1850" spc="40">
                <a:latin typeface="Tahoma"/>
                <a:cs typeface="Tahoma"/>
              </a:rPr>
              <a:t>business </a:t>
            </a:r>
            <a:r>
              <a:rPr dirty="0" sz="1850" spc="-10">
                <a:latin typeface="Tahoma"/>
                <a:cs typeface="Tahoma"/>
              </a:rPr>
              <a:t>applications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dirty="0" sz="1850" spc="45">
                <a:latin typeface="Tahoma"/>
                <a:cs typeface="Tahoma"/>
              </a:rPr>
              <a:t>Networking</a:t>
            </a:r>
            <a:r>
              <a:rPr dirty="0" sz="1850" spc="-1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–</a:t>
            </a:r>
            <a:r>
              <a:rPr dirty="0" sz="1850" spc="-45">
                <a:latin typeface="Tahoma"/>
                <a:cs typeface="Tahoma"/>
              </a:rPr>
              <a:t> </a:t>
            </a:r>
            <a:r>
              <a:rPr dirty="0" sz="1850" spc="80">
                <a:latin typeface="Tahoma"/>
                <a:cs typeface="Tahoma"/>
              </a:rPr>
              <a:t>LAN,</a:t>
            </a:r>
            <a:r>
              <a:rPr dirty="0" sz="1850" spc="-60">
                <a:latin typeface="Tahoma"/>
                <a:cs typeface="Tahoma"/>
              </a:rPr>
              <a:t> </a:t>
            </a:r>
            <a:r>
              <a:rPr dirty="0" sz="1850" spc="120">
                <a:latin typeface="Tahoma"/>
                <a:cs typeface="Tahoma"/>
              </a:rPr>
              <a:t>WAN,</a:t>
            </a:r>
            <a:r>
              <a:rPr dirty="0" sz="1850" spc="-6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Internet</a:t>
            </a:r>
            <a:r>
              <a:rPr dirty="0" sz="1850" spc="-85">
                <a:latin typeface="Tahoma"/>
                <a:cs typeface="Tahoma"/>
              </a:rPr>
              <a:t> </a:t>
            </a:r>
            <a:r>
              <a:rPr dirty="0" sz="1850" spc="-10">
                <a:latin typeface="Tahoma"/>
                <a:cs typeface="Tahoma"/>
              </a:rPr>
              <a:t>connectivity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dirty="0" sz="1850">
                <a:latin typeface="Tahoma"/>
                <a:cs typeface="Tahoma"/>
              </a:rPr>
              <a:t>Data</a:t>
            </a:r>
            <a:r>
              <a:rPr dirty="0" sz="1850" spc="4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–</a:t>
            </a:r>
            <a:r>
              <a:rPr dirty="0" sz="1850" spc="85">
                <a:latin typeface="Tahoma"/>
                <a:cs typeface="Tahoma"/>
              </a:rPr>
              <a:t> </a:t>
            </a:r>
            <a:r>
              <a:rPr dirty="0" sz="1850" spc="90">
                <a:latin typeface="Tahoma"/>
                <a:cs typeface="Tahoma"/>
              </a:rPr>
              <a:t>Raw </a:t>
            </a:r>
            <a:r>
              <a:rPr dirty="0" sz="1850">
                <a:latin typeface="Tahoma"/>
                <a:cs typeface="Tahoma"/>
              </a:rPr>
              <a:t>facts</a:t>
            </a:r>
            <a:r>
              <a:rPr dirty="0" sz="1850" spc="114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transformed</a:t>
            </a:r>
            <a:r>
              <a:rPr dirty="0" sz="1850" spc="75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into</a:t>
            </a:r>
            <a:r>
              <a:rPr dirty="0" sz="1850" spc="8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meaningful</a:t>
            </a:r>
            <a:r>
              <a:rPr dirty="0" sz="1850" spc="114">
                <a:latin typeface="Tahoma"/>
                <a:cs typeface="Tahoma"/>
              </a:rPr>
              <a:t> </a:t>
            </a:r>
            <a:r>
              <a:rPr dirty="0" sz="1850" spc="-10">
                <a:latin typeface="Tahoma"/>
                <a:cs typeface="Tahoma"/>
              </a:rPr>
              <a:t>insights</a:t>
            </a:r>
            <a:endParaRPr sz="1850">
              <a:latin typeface="Tahoma"/>
              <a:cs typeface="Tahoma"/>
            </a:endParaRPr>
          </a:p>
          <a:p>
            <a:pPr marL="298450" marR="32384" indent="-286385">
              <a:lnSpc>
                <a:spcPts val="1880"/>
              </a:lnSpc>
              <a:spcBef>
                <a:spcPts val="2105"/>
              </a:spcBef>
            </a:pPr>
            <a:r>
              <a:rPr dirty="0" sz="1850" spc="60">
                <a:latin typeface="Tahoma"/>
                <a:cs typeface="Tahoma"/>
              </a:rPr>
              <a:t>People</a:t>
            </a:r>
            <a:r>
              <a:rPr dirty="0" sz="1850" spc="-50">
                <a:latin typeface="Tahoma"/>
                <a:cs typeface="Tahoma"/>
              </a:rPr>
              <a:t> </a:t>
            </a:r>
            <a:r>
              <a:rPr dirty="0" sz="1850" spc="100">
                <a:latin typeface="Tahoma"/>
                <a:cs typeface="Tahoma"/>
              </a:rPr>
              <a:t>&amp;</a:t>
            </a:r>
            <a:r>
              <a:rPr dirty="0" sz="1850" spc="-55">
                <a:latin typeface="Tahoma"/>
                <a:cs typeface="Tahoma"/>
              </a:rPr>
              <a:t> </a:t>
            </a:r>
            <a:r>
              <a:rPr dirty="0" sz="1850" spc="85">
                <a:latin typeface="Tahoma"/>
                <a:cs typeface="Tahoma"/>
              </a:rPr>
              <a:t>Processes</a:t>
            </a:r>
            <a:r>
              <a:rPr dirty="0" sz="1850" spc="-7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–</a:t>
            </a:r>
            <a:r>
              <a:rPr dirty="0" sz="1850" spc="-40">
                <a:latin typeface="Tahoma"/>
                <a:cs typeface="Tahoma"/>
              </a:rPr>
              <a:t> </a:t>
            </a:r>
            <a:r>
              <a:rPr dirty="0" sz="1850" spc="90">
                <a:latin typeface="Tahoma"/>
                <a:cs typeface="Tahoma"/>
              </a:rPr>
              <a:t>Users</a:t>
            </a:r>
            <a:r>
              <a:rPr dirty="0" sz="1850" spc="-10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and</a:t>
            </a:r>
            <a:r>
              <a:rPr dirty="0" sz="1850" spc="-50">
                <a:latin typeface="Tahoma"/>
                <a:cs typeface="Tahoma"/>
              </a:rPr>
              <a:t> </a:t>
            </a:r>
            <a:r>
              <a:rPr dirty="0" sz="1850" spc="70">
                <a:latin typeface="Tahoma"/>
                <a:cs typeface="Tahoma"/>
              </a:rPr>
              <a:t>workflows</a:t>
            </a:r>
            <a:r>
              <a:rPr dirty="0" sz="1850" spc="-25">
                <a:latin typeface="Tahoma"/>
                <a:cs typeface="Tahoma"/>
              </a:rPr>
              <a:t> </a:t>
            </a:r>
            <a:r>
              <a:rPr dirty="0" sz="1850" spc="-10">
                <a:latin typeface="Tahoma"/>
                <a:cs typeface="Tahoma"/>
              </a:rPr>
              <a:t>managing </a:t>
            </a:r>
            <a:r>
              <a:rPr dirty="0" sz="1850" spc="65">
                <a:latin typeface="Tahoma"/>
                <a:cs typeface="Tahoma"/>
              </a:rPr>
              <a:t>systems</a:t>
            </a:r>
            <a:endParaRPr sz="1850">
              <a:latin typeface="Tahoma"/>
              <a:cs typeface="Tahoma"/>
            </a:endParaRPr>
          </a:p>
          <a:p>
            <a:pPr marL="12700" marR="488315">
              <a:lnSpc>
                <a:spcPts val="1880"/>
              </a:lnSpc>
              <a:spcBef>
                <a:spcPts val="2100"/>
              </a:spcBef>
            </a:pPr>
            <a:r>
              <a:rPr dirty="0" sz="1850" spc="55">
                <a:latin typeface="Tahoma"/>
                <a:cs typeface="Tahoma"/>
              </a:rPr>
              <a:t>All</a:t>
            </a:r>
            <a:r>
              <a:rPr dirty="0" sz="1850" spc="15">
                <a:latin typeface="Tahoma"/>
                <a:cs typeface="Tahoma"/>
              </a:rPr>
              <a:t> </a:t>
            </a:r>
            <a:r>
              <a:rPr dirty="0" sz="1850" spc="60">
                <a:latin typeface="Tahoma"/>
                <a:cs typeface="Tahoma"/>
              </a:rPr>
              <a:t>components</a:t>
            </a:r>
            <a:r>
              <a:rPr dirty="0" sz="1850" spc="12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work</a:t>
            </a:r>
            <a:r>
              <a:rPr dirty="0" sz="1850" spc="12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together</a:t>
            </a:r>
            <a:r>
              <a:rPr dirty="0" sz="1850" spc="4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to</a:t>
            </a:r>
            <a:r>
              <a:rPr dirty="0" sz="1850" spc="80">
                <a:latin typeface="Tahoma"/>
                <a:cs typeface="Tahoma"/>
              </a:rPr>
              <a:t> </a:t>
            </a:r>
            <a:r>
              <a:rPr dirty="0" sz="1850">
                <a:latin typeface="Tahoma"/>
                <a:cs typeface="Tahoma"/>
              </a:rPr>
              <a:t>deliver</a:t>
            </a:r>
            <a:r>
              <a:rPr dirty="0" sz="1850" spc="40">
                <a:latin typeface="Tahoma"/>
                <a:cs typeface="Tahoma"/>
              </a:rPr>
              <a:t> </a:t>
            </a:r>
            <a:r>
              <a:rPr dirty="0" sz="1850" spc="50">
                <a:latin typeface="Tahoma"/>
                <a:cs typeface="Tahoma"/>
              </a:rPr>
              <a:t>business </a:t>
            </a:r>
            <a:r>
              <a:rPr dirty="0" sz="1850" spc="-10">
                <a:latin typeface="Tahoma"/>
                <a:cs typeface="Tahoma"/>
              </a:rPr>
              <a:t>value.</a:t>
            </a:r>
            <a:endParaRPr sz="1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0"/>
              <a:t>Business</a:t>
            </a:r>
            <a:r>
              <a:rPr dirty="0" spc="-80"/>
              <a:t> </a:t>
            </a:r>
            <a:r>
              <a:rPr dirty="0" spc="75"/>
              <a:t>Systems</a:t>
            </a:r>
            <a:r>
              <a:rPr dirty="0" spc="-75"/>
              <a:t> </a:t>
            </a:r>
            <a:r>
              <a:rPr dirty="0" spc="-10"/>
              <a:t>Overview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61769" y="1647507"/>
            <a:ext cx="7259320" cy="2414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65">
                <a:latin typeface="Tahoma"/>
                <a:cs typeface="Tahoma"/>
              </a:rPr>
              <a:t>Modern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organizations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use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integrated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business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systems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such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as:</a:t>
            </a:r>
            <a:endParaRPr sz="2000">
              <a:latin typeface="Tahoma"/>
              <a:cs typeface="Tahoma"/>
            </a:endParaRPr>
          </a:p>
          <a:p>
            <a:pPr marL="281305" indent="-198755">
              <a:lnSpc>
                <a:spcPct val="100000"/>
              </a:lnSpc>
              <a:spcBef>
                <a:spcPts val="2180"/>
              </a:spcBef>
              <a:buChar char="•"/>
              <a:tabLst>
                <a:tab pos="281305" algn="l"/>
              </a:tabLst>
            </a:pPr>
            <a:r>
              <a:rPr dirty="0" sz="2000" spc="100">
                <a:latin typeface="Tahoma"/>
                <a:cs typeface="Tahoma"/>
              </a:rPr>
              <a:t>ERP</a:t>
            </a:r>
            <a:r>
              <a:rPr dirty="0" sz="2000" spc="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(Enterprise</a:t>
            </a:r>
            <a:r>
              <a:rPr dirty="0" sz="2000" spc="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Resource</a:t>
            </a:r>
            <a:r>
              <a:rPr dirty="0" sz="2000" spc="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Planning)</a:t>
            </a:r>
            <a:endParaRPr sz="2000">
              <a:latin typeface="Tahoma"/>
              <a:cs typeface="Tahoma"/>
            </a:endParaRPr>
          </a:p>
          <a:p>
            <a:pPr marL="281305" indent="-198755">
              <a:lnSpc>
                <a:spcPct val="100000"/>
              </a:lnSpc>
              <a:spcBef>
                <a:spcPts val="5"/>
              </a:spcBef>
              <a:buChar char="•"/>
              <a:tabLst>
                <a:tab pos="281305" algn="l"/>
              </a:tabLst>
            </a:pPr>
            <a:r>
              <a:rPr dirty="0" sz="2000" spc="175">
                <a:latin typeface="Tahoma"/>
                <a:cs typeface="Tahoma"/>
              </a:rPr>
              <a:t>CRM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(Customer</a:t>
            </a:r>
            <a:r>
              <a:rPr dirty="0" sz="2000" spc="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Relationship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Management)</a:t>
            </a:r>
            <a:endParaRPr sz="2000">
              <a:latin typeface="Tahoma"/>
              <a:cs typeface="Tahoma"/>
            </a:endParaRPr>
          </a:p>
          <a:p>
            <a:pPr marL="281305" indent="-198755">
              <a:lnSpc>
                <a:spcPct val="100000"/>
              </a:lnSpc>
              <a:spcBef>
                <a:spcPts val="5"/>
              </a:spcBef>
              <a:buChar char="•"/>
              <a:tabLst>
                <a:tab pos="281305" algn="l"/>
              </a:tabLst>
            </a:pPr>
            <a:r>
              <a:rPr dirty="0" sz="2000" spc="-10">
                <a:latin typeface="Tahoma"/>
                <a:cs typeface="Tahoma"/>
              </a:rPr>
              <a:t>BI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(Business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Intelligence)</a:t>
            </a:r>
            <a:endParaRPr sz="2000">
              <a:latin typeface="Tahoma"/>
              <a:cs typeface="Tahoma"/>
            </a:endParaRPr>
          </a:p>
          <a:p>
            <a:pPr marL="281305" indent="-198755">
              <a:lnSpc>
                <a:spcPct val="100000"/>
              </a:lnSpc>
              <a:buChar char="•"/>
              <a:tabLst>
                <a:tab pos="281305" algn="l"/>
              </a:tabLst>
            </a:pPr>
            <a:r>
              <a:rPr dirty="0" sz="2000" spc="200">
                <a:latin typeface="Tahoma"/>
                <a:cs typeface="Tahoma"/>
              </a:rPr>
              <a:t>SCM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(Supply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Chain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Management)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dirty="0" sz="2000">
                <a:latin typeface="Tahoma"/>
                <a:cs typeface="Tahoma"/>
              </a:rPr>
              <a:t>These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systems</a:t>
            </a:r>
            <a:r>
              <a:rPr dirty="0" sz="2000" spc="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improve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coordination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across</a:t>
            </a:r>
            <a:r>
              <a:rPr dirty="0" sz="2000" spc="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departments.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325" y="847724"/>
            <a:ext cx="7215505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Enterprise</a:t>
            </a:r>
            <a:r>
              <a:rPr dirty="0" spc="80"/>
              <a:t> </a:t>
            </a:r>
            <a:r>
              <a:rPr dirty="0"/>
              <a:t>Resource</a:t>
            </a:r>
            <a:r>
              <a:rPr dirty="0" spc="85"/>
              <a:t> </a:t>
            </a:r>
            <a:r>
              <a:rPr dirty="0" spc="110"/>
              <a:t>Planning</a:t>
            </a:r>
            <a:r>
              <a:rPr dirty="0" spc="150"/>
              <a:t> </a:t>
            </a:r>
            <a:r>
              <a:rPr dirty="0" spc="-45"/>
              <a:t>(ERP)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83752"/>
            <a:ext cx="9106535" cy="30816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2000" spc="100">
                <a:latin typeface="Tahoma"/>
                <a:cs typeface="Tahoma"/>
              </a:rPr>
              <a:t>ERP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is</a:t>
            </a:r>
            <a:r>
              <a:rPr dirty="0" sz="2000" spc="-20">
                <a:latin typeface="Tahoma"/>
                <a:cs typeface="Tahoma"/>
              </a:rPr>
              <a:t> an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integrated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software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system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that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manages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core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business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functions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a </a:t>
            </a:r>
            <a:r>
              <a:rPr dirty="0" sz="2000">
                <a:latin typeface="Tahoma"/>
                <a:cs typeface="Tahoma"/>
              </a:rPr>
              <a:t>unified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platform.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2000" spc="-105">
                <a:latin typeface="Tahoma"/>
                <a:cs typeface="Tahoma"/>
              </a:rPr>
              <a:t>It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centralizes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data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from:</a:t>
            </a:r>
            <a:endParaRPr sz="2000">
              <a:latin typeface="Tahoma"/>
              <a:cs typeface="Tahoma"/>
            </a:endParaRPr>
          </a:p>
          <a:p>
            <a:pPr marL="281305" indent="-198755">
              <a:lnSpc>
                <a:spcPct val="100000"/>
              </a:lnSpc>
              <a:spcBef>
                <a:spcPts val="5"/>
              </a:spcBef>
              <a:buChar char="•"/>
              <a:tabLst>
                <a:tab pos="281305" algn="l"/>
              </a:tabLst>
            </a:pPr>
            <a:r>
              <a:rPr dirty="0" sz="2000" spc="-10">
                <a:latin typeface="Tahoma"/>
                <a:cs typeface="Tahoma"/>
              </a:rPr>
              <a:t>Finance</a:t>
            </a:r>
            <a:endParaRPr sz="2000">
              <a:latin typeface="Tahoma"/>
              <a:cs typeface="Tahoma"/>
            </a:endParaRPr>
          </a:p>
          <a:p>
            <a:pPr marL="281305" indent="-198755">
              <a:lnSpc>
                <a:spcPct val="100000"/>
              </a:lnSpc>
              <a:buChar char="•"/>
              <a:tabLst>
                <a:tab pos="281305" algn="l"/>
              </a:tabLst>
            </a:pPr>
            <a:r>
              <a:rPr dirty="0" sz="2000" spc="60">
                <a:latin typeface="Tahoma"/>
                <a:cs typeface="Tahoma"/>
              </a:rPr>
              <a:t>HR</a:t>
            </a:r>
            <a:endParaRPr sz="2000">
              <a:latin typeface="Tahoma"/>
              <a:cs typeface="Tahoma"/>
            </a:endParaRPr>
          </a:p>
          <a:p>
            <a:pPr marL="281305" indent="-198755">
              <a:lnSpc>
                <a:spcPct val="100000"/>
              </a:lnSpc>
              <a:spcBef>
                <a:spcPts val="5"/>
              </a:spcBef>
              <a:buChar char="•"/>
              <a:tabLst>
                <a:tab pos="281305" algn="l"/>
              </a:tabLst>
            </a:pPr>
            <a:r>
              <a:rPr dirty="0" sz="2000" spc="-10">
                <a:latin typeface="Tahoma"/>
                <a:cs typeface="Tahoma"/>
              </a:rPr>
              <a:t>Inventory</a:t>
            </a:r>
            <a:endParaRPr sz="2000">
              <a:latin typeface="Tahoma"/>
              <a:cs typeface="Tahoma"/>
            </a:endParaRPr>
          </a:p>
          <a:p>
            <a:pPr marL="281305" indent="-198755">
              <a:lnSpc>
                <a:spcPct val="100000"/>
              </a:lnSpc>
              <a:spcBef>
                <a:spcPts val="5"/>
              </a:spcBef>
              <a:buChar char="•"/>
              <a:tabLst>
                <a:tab pos="281305" algn="l"/>
              </a:tabLst>
            </a:pPr>
            <a:r>
              <a:rPr dirty="0" sz="2000" spc="-10">
                <a:latin typeface="Tahoma"/>
                <a:cs typeface="Tahoma"/>
              </a:rPr>
              <a:t>Sales</a:t>
            </a:r>
            <a:endParaRPr sz="2000">
              <a:latin typeface="Tahoma"/>
              <a:cs typeface="Tahoma"/>
            </a:endParaRPr>
          </a:p>
          <a:p>
            <a:pPr marL="281305" indent="-198755">
              <a:lnSpc>
                <a:spcPct val="100000"/>
              </a:lnSpc>
              <a:buChar char="•"/>
              <a:tabLst>
                <a:tab pos="281305" algn="l"/>
              </a:tabLst>
            </a:pPr>
            <a:r>
              <a:rPr dirty="0" sz="2000" spc="-10">
                <a:latin typeface="Tahoma"/>
                <a:cs typeface="Tahoma"/>
              </a:rPr>
              <a:t>Production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 spc="100">
                <a:latin typeface="Tahoma"/>
                <a:cs typeface="Tahoma"/>
              </a:rPr>
              <a:t>ERP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provides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-60">
                <a:latin typeface="Tahoma"/>
                <a:cs typeface="Tahoma"/>
              </a:rPr>
              <a:t>real-</a:t>
            </a:r>
            <a:r>
              <a:rPr dirty="0" sz="2000">
                <a:latin typeface="Tahoma"/>
                <a:cs typeface="Tahoma"/>
              </a:rPr>
              <a:t>time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visibility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across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organization.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70"/>
              <a:t>Benefits</a:t>
            </a:r>
            <a:r>
              <a:rPr dirty="0" spc="-90"/>
              <a:t> </a:t>
            </a:r>
            <a:r>
              <a:rPr dirty="0" spc="114"/>
              <a:t>of</a:t>
            </a:r>
            <a:r>
              <a:rPr dirty="0" spc="-55"/>
              <a:t> </a:t>
            </a:r>
            <a:r>
              <a:rPr dirty="0" spc="-25"/>
              <a:t>ERP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5313045" cy="20605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100">
                <a:latin typeface="Tahoma"/>
                <a:cs typeface="Tahoma"/>
              </a:rPr>
              <a:t>•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Improved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operational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efficiency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Reduced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duplication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data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buChar char="•"/>
              <a:tabLst>
                <a:tab pos="510540" algn="l"/>
              </a:tabLst>
            </a:pPr>
            <a:r>
              <a:rPr dirty="0" sz="2000" spc="-35">
                <a:latin typeface="Tahoma"/>
                <a:cs typeface="Tahoma"/>
              </a:rPr>
              <a:t>Real-</a:t>
            </a:r>
            <a:r>
              <a:rPr dirty="0" sz="2000">
                <a:latin typeface="Tahoma"/>
                <a:cs typeface="Tahoma"/>
              </a:rPr>
              <a:t>time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reporting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and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analytics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Better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collaboration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between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departments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Scalability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as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organization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40">
                <a:latin typeface="Tahoma"/>
                <a:cs typeface="Tahoma"/>
              </a:rPr>
              <a:t>grows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100">
                <a:latin typeface="Tahoma"/>
                <a:cs typeface="Tahoma"/>
              </a:rPr>
              <a:t>ERP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acts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as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“single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source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truth.”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ERP</a:t>
            </a:r>
            <a:r>
              <a:rPr dirty="0" spc="-45"/>
              <a:t> </a:t>
            </a:r>
            <a:r>
              <a:rPr dirty="0"/>
              <a:t>vs</a:t>
            </a:r>
            <a:r>
              <a:rPr dirty="0" spc="-55"/>
              <a:t> </a:t>
            </a:r>
            <a:r>
              <a:rPr dirty="0" spc="135"/>
              <a:t>CRM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6110605" cy="30816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100">
                <a:latin typeface="Tahoma"/>
                <a:cs typeface="Tahoma"/>
              </a:rPr>
              <a:t>ERP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focuses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on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internal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operations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such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finance, </a:t>
            </a:r>
            <a:r>
              <a:rPr dirty="0" sz="2000">
                <a:latin typeface="Tahoma"/>
                <a:cs typeface="Tahoma"/>
              </a:rPr>
              <a:t>HR,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and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supply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chain.</a:t>
            </a:r>
            <a:endParaRPr sz="2000">
              <a:latin typeface="Tahoma"/>
              <a:cs typeface="Tahoma"/>
            </a:endParaRPr>
          </a:p>
          <a:p>
            <a:pPr marL="241300" marR="597535" indent="-228600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210">
                <a:latin typeface="Tahoma"/>
                <a:cs typeface="Tahoma"/>
              </a:rPr>
              <a:t>CRM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focuses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on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customer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relationships,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sales tracking,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and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marketing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campaigns.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100">
                <a:latin typeface="Tahoma"/>
                <a:cs typeface="Tahoma"/>
              </a:rPr>
              <a:t>ERP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improves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efficiency.</a:t>
            </a:r>
            <a:endParaRPr sz="2000">
              <a:latin typeface="Tahoma"/>
              <a:cs typeface="Tahoma"/>
            </a:endParaRPr>
          </a:p>
          <a:p>
            <a:pPr marL="311150">
              <a:lnSpc>
                <a:spcPct val="100000"/>
              </a:lnSpc>
            </a:pPr>
            <a:r>
              <a:rPr dirty="0" sz="2000" spc="210">
                <a:latin typeface="Tahoma"/>
                <a:cs typeface="Tahoma"/>
              </a:rPr>
              <a:t>CRM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improves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customer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satisfaction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1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revenue</a:t>
            </a:r>
            <a:endParaRPr sz="20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latin typeface="Tahoma"/>
                <a:cs typeface="Tahoma"/>
              </a:rPr>
              <a:t>growth.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6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Both</a:t>
            </a:r>
            <a:r>
              <a:rPr dirty="0" sz="2000" spc="5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systems</a:t>
            </a:r>
            <a:r>
              <a:rPr dirty="0" sz="2000" spc="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complement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each</a:t>
            </a:r>
            <a:r>
              <a:rPr dirty="0" sz="2000" spc="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other.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0"/>
              <a:t>Business</a:t>
            </a:r>
            <a:r>
              <a:rPr dirty="0" spc="-114"/>
              <a:t> </a:t>
            </a:r>
            <a:r>
              <a:rPr dirty="0" spc="55"/>
              <a:t>Strategy</a:t>
            </a:r>
            <a:r>
              <a:rPr dirty="0" spc="-50"/>
              <a:t> </a:t>
            </a:r>
            <a:r>
              <a:rPr dirty="0" spc="495"/>
              <a:t>&amp;</a:t>
            </a:r>
            <a:r>
              <a:rPr dirty="0" spc="-50"/>
              <a:t> </a:t>
            </a:r>
            <a:r>
              <a:rPr dirty="0"/>
              <a:t>IT</a:t>
            </a:r>
            <a:r>
              <a:rPr dirty="0" spc="-75"/>
              <a:t> </a:t>
            </a:r>
            <a:r>
              <a:rPr dirty="0" spc="45"/>
              <a:t>Strategy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6363335" cy="338645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1300" marR="39751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65">
                <a:latin typeface="Tahoma"/>
                <a:cs typeface="Tahoma"/>
              </a:rPr>
              <a:t>Business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Strategy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defines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 spc="-55">
                <a:latin typeface="Tahoma"/>
                <a:cs typeface="Tahoma"/>
              </a:rPr>
              <a:t>long-</a:t>
            </a:r>
            <a:r>
              <a:rPr dirty="0" sz="2000">
                <a:latin typeface="Tahoma"/>
                <a:cs typeface="Tahoma"/>
              </a:rPr>
              <a:t>term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organizational goals.</a:t>
            </a:r>
            <a:endParaRPr sz="2000">
              <a:latin typeface="Tahoma"/>
              <a:cs typeface="Tahoma"/>
            </a:endParaRPr>
          </a:p>
          <a:p>
            <a:pPr marL="241300" marR="5080" indent="-228600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145">
                <a:latin typeface="Tahoma"/>
                <a:cs typeface="Tahoma"/>
              </a:rPr>
              <a:t>IT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Strategy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defines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how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technology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will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support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those goals.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Alignment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between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business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-145">
                <a:latin typeface="Tahoma"/>
                <a:cs typeface="Tahoma"/>
              </a:rPr>
              <a:t>IT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ensures: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Efficient</a:t>
            </a:r>
            <a:r>
              <a:rPr dirty="0" sz="2000" spc="1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resource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utilization</a:t>
            </a:r>
            <a:endParaRPr sz="2000">
              <a:latin typeface="Tahoma"/>
              <a:cs typeface="Tahoma"/>
            </a:endParaRPr>
          </a:p>
          <a:p>
            <a:pPr lvl="1" marL="511175" indent="-200025">
              <a:lnSpc>
                <a:spcPct val="100000"/>
              </a:lnSpc>
              <a:spcBef>
                <a:spcPts val="5"/>
              </a:spcBef>
              <a:buChar char="•"/>
              <a:tabLst>
                <a:tab pos="511175" algn="l"/>
              </a:tabLst>
            </a:pPr>
            <a:r>
              <a:rPr dirty="0" sz="2000">
                <a:latin typeface="Tahoma"/>
                <a:cs typeface="Tahoma"/>
              </a:rPr>
              <a:t>Strategic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advantage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Sustainable</a:t>
            </a:r>
            <a:r>
              <a:rPr dirty="0" sz="2000" spc="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growth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6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Without</a:t>
            </a:r>
            <a:r>
              <a:rPr dirty="0" sz="2000" spc="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alignment,</a:t>
            </a:r>
            <a:r>
              <a:rPr dirty="0" sz="2000" spc="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technology</a:t>
            </a:r>
            <a:r>
              <a:rPr dirty="0" sz="2000" spc="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investments</a:t>
            </a:r>
            <a:r>
              <a:rPr dirty="0" sz="2000" spc="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may</a:t>
            </a:r>
            <a:r>
              <a:rPr dirty="0" sz="2000" spc="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fail.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Types</a:t>
            </a:r>
            <a:r>
              <a:rPr dirty="0" spc="-90"/>
              <a:t> </a:t>
            </a:r>
            <a:r>
              <a:rPr dirty="0" spc="80"/>
              <a:t>of</a:t>
            </a:r>
            <a:r>
              <a:rPr dirty="0" spc="-65"/>
              <a:t> </a:t>
            </a:r>
            <a:r>
              <a:rPr dirty="0" spc="-20"/>
              <a:t>Data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5985510" cy="3176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ahoma"/>
                <a:cs typeface="Tahoma"/>
              </a:rPr>
              <a:t>Structured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Data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–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Stored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tables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60">
                <a:latin typeface="Tahoma"/>
                <a:cs typeface="Tahoma"/>
              </a:rPr>
              <a:t>(e.g.,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databases, Excel)</a:t>
            </a:r>
            <a:endParaRPr sz="2000">
              <a:latin typeface="Tahoma"/>
              <a:cs typeface="Tahoma"/>
            </a:endParaRPr>
          </a:p>
          <a:p>
            <a:pPr marL="241300" marR="323215" indent="6985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Tahoma"/>
                <a:cs typeface="Tahoma"/>
              </a:rPr>
              <a:t>Semi-Structured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–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JSON,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180">
                <a:latin typeface="Tahoma"/>
                <a:cs typeface="Tahoma"/>
              </a:rPr>
              <a:t>XML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with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partial organization</a:t>
            </a:r>
            <a:endParaRPr sz="2000">
              <a:latin typeface="Tahoma"/>
              <a:cs typeface="Tahoma"/>
            </a:endParaRPr>
          </a:p>
          <a:p>
            <a:pPr marL="241300" marR="217804" indent="69850">
              <a:lnSpc>
                <a:spcPct val="100000"/>
              </a:lnSpc>
              <a:spcBef>
                <a:spcPts val="10"/>
              </a:spcBef>
            </a:pPr>
            <a:r>
              <a:rPr dirty="0" sz="2000">
                <a:latin typeface="Tahoma"/>
                <a:cs typeface="Tahoma"/>
              </a:rPr>
              <a:t>Unstructured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–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Text, images,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videos,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social media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110">
                <a:latin typeface="Tahoma"/>
                <a:cs typeface="Tahoma"/>
              </a:rPr>
              <a:t>Most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modern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business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data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is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unstructured.</a:t>
            </a:r>
            <a:endParaRPr sz="2000">
              <a:latin typeface="Tahoma"/>
              <a:cs typeface="Tahoma"/>
            </a:endParaRPr>
          </a:p>
          <a:p>
            <a:pPr marL="241300" marR="153035" indent="-228600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ahoma"/>
                <a:cs typeface="Tahoma"/>
              </a:rPr>
              <a:t>Effective</a:t>
            </a:r>
            <a:r>
              <a:rPr dirty="0" sz="2000" spc="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management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all</a:t>
            </a:r>
            <a:r>
              <a:rPr dirty="0" sz="2000" spc="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types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is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essential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for </a:t>
            </a:r>
            <a:r>
              <a:rPr dirty="0" sz="2000" spc="-10">
                <a:latin typeface="Tahoma"/>
                <a:cs typeface="Tahoma"/>
              </a:rPr>
              <a:t>analytics.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65"/>
              <a:t>Data</a:t>
            </a:r>
            <a:r>
              <a:rPr dirty="0" spc="-75"/>
              <a:t> </a:t>
            </a:r>
            <a:r>
              <a:rPr dirty="0" spc="40"/>
              <a:t>Sources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6880225" cy="17557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10515" indent="-29781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10515" algn="l"/>
              </a:tabLst>
            </a:pPr>
            <a:r>
              <a:rPr dirty="0" sz="2000" spc="100">
                <a:latin typeface="Tahoma"/>
                <a:cs typeface="Tahoma"/>
              </a:rPr>
              <a:t>•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35">
                <a:latin typeface="Tahoma"/>
                <a:cs typeface="Tahoma"/>
              </a:rPr>
              <a:t>Internal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–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Sales,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HR,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inventory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records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External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–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Market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trends,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competitor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information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buChar char="•"/>
              <a:tabLst>
                <a:tab pos="510540" algn="l"/>
              </a:tabLst>
            </a:pPr>
            <a:r>
              <a:rPr dirty="0" sz="2000" spc="-65">
                <a:latin typeface="Tahoma"/>
                <a:cs typeface="Tahoma"/>
              </a:rPr>
              <a:t>Third-</a:t>
            </a:r>
            <a:r>
              <a:rPr dirty="0" sz="2000">
                <a:latin typeface="Tahoma"/>
                <a:cs typeface="Tahoma"/>
              </a:rPr>
              <a:t>Party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Analytics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–</a:t>
            </a:r>
            <a:r>
              <a:rPr dirty="0" sz="2000">
                <a:latin typeface="Tahoma"/>
                <a:cs typeface="Tahoma"/>
              </a:rPr>
              <a:t> Google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Analytics,</a:t>
            </a:r>
            <a:r>
              <a:rPr dirty="0" sz="2000" spc="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marketing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tools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Open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–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Government</a:t>
            </a:r>
            <a:r>
              <a:rPr dirty="0" sz="2000" spc="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statistics,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public</a:t>
            </a:r>
            <a:r>
              <a:rPr dirty="0" sz="2000" spc="4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datasets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Combining</a:t>
            </a:r>
            <a:r>
              <a:rPr dirty="0" sz="2000" spc="1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multiple</a:t>
            </a:r>
            <a:r>
              <a:rPr dirty="0" sz="2000" spc="1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sources</a:t>
            </a:r>
            <a:r>
              <a:rPr dirty="0" sz="2000" spc="1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improves</a:t>
            </a:r>
            <a:r>
              <a:rPr dirty="0" sz="2000" spc="1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decision-</a:t>
            </a:r>
            <a:r>
              <a:rPr dirty="0" sz="2000" spc="-10">
                <a:latin typeface="Tahoma"/>
                <a:cs typeface="Tahoma"/>
              </a:rPr>
              <a:t>making.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65"/>
              <a:t>Data</a:t>
            </a:r>
            <a:r>
              <a:rPr dirty="0" spc="-65"/>
              <a:t> </a:t>
            </a:r>
            <a:r>
              <a:rPr dirty="0" spc="65"/>
              <a:t>Lifecycle</a:t>
            </a:r>
            <a:r>
              <a:rPr dirty="0" spc="-95"/>
              <a:t> </a:t>
            </a:r>
            <a:r>
              <a:rPr dirty="0" spc="114"/>
              <a:t>Management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Data</a:t>
            </a:r>
            <a:r>
              <a:rPr dirty="0" spc="35"/>
              <a:t> </a:t>
            </a:r>
            <a:r>
              <a:rPr dirty="0"/>
              <a:t>Lifecycle</a:t>
            </a:r>
            <a:r>
              <a:rPr dirty="0" spc="90"/>
              <a:t> </a:t>
            </a:r>
            <a:r>
              <a:rPr dirty="0" spc="-10"/>
              <a:t>includes:</a:t>
            </a: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Data</a:t>
            </a:r>
            <a:r>
              <a:rPr dirty="0" spc="-140"/>
              <a:t> </a:t>
            </a:r>
            <a:r>
              <a:rPr dirty="0" spc="-10"/>
              <a:t>Creation</a:t>
            </a: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Data</a:t>
            </a:r>
            <a:r>
              <a:rPr dirty="0" spc="-140"/>
              <a:t> </a:t>
            </a:r>
            <a:r>
              <a:rPr dirty="0" spc="-10"/>
              <a:t>Storage</a:t>
            </a:r>
          </a:p>
          <a:p>
            <a:pPr marL="240665" indent="-227965">
              <a:lnSpc>
                <a:spcPct val="100000"/>
              </a:lnSpc>
              <a:spcBef>
                <a:spcPts val="16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Data</a:t>
            </a:r>
            <a:r>
              <a:rPr dirty="0" spc="-140"/>
              <a:t> </a:t>
            </a:r>
            <a:r>
              <a:rPr dirty="0" spc="-10"/>
              <a:t>Processing</a:t>
            </a: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Data</a:t>
            </a:r>
            <a:r>
              <a:rPr dirty="0" spc="-140"/>
              <a:t> </a:t>
            </a:r>
            <a:r>
              <a:rPr dirty="0" spc="-10"/>
              <a:t>Analysis</a:t>
            </a: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Data</a:t>
            </a:r>
            <a:r>
              <a:rPr dirty="0" spc="-110"/>
              <a:t> </a:t>
            </a:r>
            <a:r>
              <a:rPr dirty="0"/>
              <a:t>Archiving</a:t>
            </a:r>
            <a:r>
              <a:rPr dirty="0" spc="-65"/>
              <a:t> </a:t>
            </a:r>
            <a:r>
              <a:rPr dirty="0"/>
              <a:t>or</a:t>
            </a:r>
            <a:r>
              <a:rPr dirty="0" spc="-70"/>
              <a:t> </a:t>
            </a:r>
            <a:r>
              <a:rPr dirty="0" spc="-10"/>
              <a:t>Deletion</a:t>
            </a: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dirty="0"/>
              <a:t>Proper</a:t>
            </a:r>
            <a:r>
              <a:rPr dirty="0" spc="10"/>
              <a:t> </a:t>
            </a:r>
            <a:r>
              <a:rPr dirty="0"/>
              <a:t>lifecycle</a:t>
            </a:r>
            <a:r>
              <a:rPr dirty="0" spc="5"/>
              <a:t> </a:t>
            </a:r>
            <a:r>
              <a:rPr dirty="0"/>
              <a:t>management</a:t>
            </a:r>
            <a:r>
              <a:rPr dirty="0" spc="5"/>
              <a:t> </a:t>
            </a:r>
            <a:r>
              <a:rPr dirty="0" spc="45"/>
              <a:t>ensures</a:t>
            </a:r>
            <a:r>
              <a:rPr dirty="0" spc="-45"/>
              <a:t> </a:t>
            </a:r>
            <a:r>
              <a:rPr dirty="0"/>
              <a:t>security</a:t>
            </a:r>
            <a:r>
              <a:rPr dirty="0" spc="45"/>
              <a:t> </a:t>
            </a:r>
            <a:r>
              <a:rPr dirty="0" spc="-10"/>
              <a:t>and</a:t>
            </a:r>
            <a:r>
              <a:rPr dirty="0" spc="5"/>
              <a:t> </a:t>
            </a:r>
            <a:r>
              <a:rPr dirty="0" spc="-10"/>
              <a:t>compliance.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0"/>
              <a:t>Role</a:t>
            </a:r>
            <a:r>
              <a:rPr dirty="0" spc="-30"/>
              <a:t> </a:t>
            </a:r>
            <a:r>
              <a:rPr dirty="0" spc="80"/>
              <a:t>of</a:t>
            </a:r>
            <a:r>
              <a:rPr dirty="0" spc="-60"/>
              <a:t> </a:t>
            </a:r>
            <a:r>
              <a:rPr dirty="0" spc="50"/>
              <a:t>a</a:t>
            </a:r>
            <a:r>
              <a:rPr dirty="0" spc="-65"/>
              <a:t> </a:t>
            </a:r>
            <a:r>
              <a:rPr dirty="0" spc="55"/>
              <a:t>Business</a:t>
            </a:r>
            <a:r>
              <a:rPr dirty="0" spc="-15"/>
              <a:t> </a:t>
            </a:r>
            <a:r>
              <a:rPr dirty="0" spc="95"/>
              <a:t>Analyst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5341620" cy="34823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140">
                <a:latin typeface="Tahoma"/>
                <a:cs typeface="Tahoma"/>
              </a:rPr>
              <a:t>A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Business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Analyst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acts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bridge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between </a:t>
            </a:r>
            <a:r>
              <a:rPr dirty="0" sz="2000" spc="45">
                <a:latin typeface="Tahoma"/>
                <a:cs typeface="Tahoma"/>
              </a:rPr>
              <a:t>business</a:t>
            </a:r>
            <a:r>
              <a:rPr dirty="0" sz="2000">
                <a:latin typeface="Tahoma"/>
                <a:cs typeface="Tahoma"/>
              </a:rPr>
              <a:t> stakeholders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technical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teams.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Key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Responsibilities: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Requirement</a:t>
            </a:r>
            <a:r>
              <a:rPr dirty="0" sz="2000" spc="1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gathering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analysis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 spc="55">
                <a:latin typeface="Tahoma"/>
                <a:cs typeface="Tahoma"/>
              </a:rPr>
              <a:t>Process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improvement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 spc="-10">
                <a:latin typeface="Tahoma"/>
                <a:cs typeface="Tahoma"/>
              </a:rPr>
              <a:t>Documentation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Solution </a:t>
            </a:r>
            <a:r>
              <a:rPr dirty="0" sz="2000" spc="-10">
                <a:latin typeface="Tahoma"/>
                <a:cs typeface="Tahoma"/>
              </a:rPr>
              <a:t>validation</a:t>
            </a:r>
            <a:endParaRPr sz="2000">
              <a:latin typeface="Tahoma"/>
              <a:cs typeface="Tahoma"/>
            </a:endParaRPr>
          </a:p>
          <a:p>
            <a:pPr marL="241300" marR="252095" indent="-228600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ahoma"/>
                <a:cs typeface="Tahoma"/>
              </a:rPr>
              <a:t>They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ensure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business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problems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solved effectively.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85"/>
              <a:t>Skills</a:t>
            </a:r>
            <a:r>
              <a:rPr dirty="0" spc="-15"/>
              <a:t> </a:t>
            </a:r>
            <a:r>
              <a:rPr dirty="0" spc="80"/>
              <a:t>of</a:t>
            </a:r>
            <a:r>
              <a:rPr dirty="0" spc="-55"/>
              <a:t> </a:t>
            </a:r>
            <a:r>
              <a:rPr dirty="0" spc="50"/>
              <a:t>a</a:t>
            </a:r>
            <a:r>
              <a:rPr dirty="0" spc="-65"/>
              <a:t> </a:t>
            </a:r>
            <a:r>
              <a:rPr dirty="0" spc="55"/>
              <a:t>Business</a:t>
            </a:r>
            <a:r>
              <a:rPr dirty="0" spc="-10"/>
              <a:t> </a:t>
            </a:r>
            <a:r>
              <a:rPr dirty="0" spc="95"/>
              <a:t>Analyst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4585970" cy="20605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10515" indent="-29781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10515" algn="l"/>
              </a:tabLst>
            </a:pPr>
            <a:r>
              <a:rPr dirty="0" sz="2000" spc="100">
                <a:latin typeface="Tahoma"/>
                <a:cs typeface="Tahoma"/>
              </a:rPr>
              <a:t>•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Analytical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thinking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Communication</a:t>
            </a:r>
            <a:r>
              <a:rPr dirty="0" sz="2000" spc="2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skills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buChar char="•"/>
              <a:tabLst>
                <a:tab pos="510540" algn="l"/>
              </a:tabLst>
            </a:pPr>
            <a:r>
              <a:rPr dirty="0" sz="2000" spc="-10">
                <a:latin typeface="Tahoma"/>
                <a:cs typeface="Tahoma"/>
              </a:rPr>
              <a:t>Problem-</a:t>
            </a:r>
            <a:r>
              <a:rPr dirty="0" sz="2000">
                <a:latin typeface="Tahoma"/>
                <a:cs typeface="Tahoma"/>
              </a:rPr>
              <a:t>solving</a:t>
            </a:r>
            <a:r>
              <a:rPr dirty="0" sz="2000" spc="10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ability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Knowledge</a:t>
            </a:r>
            <a:r>
              <a:rPr dirty="0" sz="2000" spc="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SQL,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Excel,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BI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tools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Understanding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business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domains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Strong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collaboration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skills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critical.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45"/>
              <a:t>Agile</a:t>
            </a:r>
            <a:r>
              <a:rPr dirty="0" spc="-30"/>
              <a:t> </a:t>
            </a:r>
            <a:r>
              <a:rPr dirty="0" spc="85"/>
              <a:t>Methodology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5857240" cy="2566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ahoma"/>
                <a:cs typeface="Tahoma"/>
              </a:rPr>
              <a:t>Agile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is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an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iterative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approach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that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delivers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work </a:t>
            </a:r>
            <a:r>
              <a:rPr dirty="0" sz="2000" spc="-25">
                <a:latin typeface="Tahoma"/>
                <a:cs typeface="Tahoma"/>
              </a:rPr>
              <a:t>in </a:t>
            </a:r>
            <a:r>
              <a:rPr dirty="0" sz="2000">
                <a:latin typeface="Tahoma"/>
                <a:cs typeface="Tahoma"/>
              </a:rPr>
              <a:t>short</a:t>
            </a:r>
            <a:r>
              <a:rPr dirty="0" sz="2000" spc="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cycles</a:t>
            </a:r>
            <a:r>
              <a:rPr dirty="0" sz="2000" spc="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called</a:t>
            </a:r>
            <a:r>
              <a:rPr dirty="0" sz="2000" spc="3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sprints.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10">
                <a:latin typeface="Tahoma"/>
                <a:cs typeface="Tahoma"/>
              </a:rPr>
              <a:t>Advantages: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Flexible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change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Continuous</a:t>
            </a:r>
            <a:r>
              <a:rPr dirty="0" sz="2000" spc="1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customer</a:t>
            </a:r>
            <a:r>
              <a:rPr dirty="0" sz="2000" spc="15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feedback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Faster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delivery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80">
                <a:latin typeface="Tahoma"/>
                <a:cs typeface="Tahoma"/>
              </a:rPr>
              <a:t>Best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for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dynamic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evolving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projects.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Waterfall</a:t>
            </a:r>
            <a:r>
              <a:rPr dirty="0" spc="330"/>
              <a:t> </a:t>
            </a:r>
            <a:r>
              <a:rPr dirty="0" spc="85"/>
              <a:t>Methodology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5862320" cy="2871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Waterfall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is</a:t>
            </a:r>
            <a:r>
              <a:rPr dirty="0" sz="2000" spc="-50">
                <a:latin typeface="Tahoma"/>
                <a:cs typeface="Tahoma"/>
              </a:rPr>
              <a:t> a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linear</a:t>
            </a:r>
            <a:r>
              <a:rPr dirty="0" sz="2000" spc="-10">
                <a:latin typeface="Tahoma"/>
                <a:cs typeface="Tahoma"/>
              </a:rPr>
              <a:t> and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sequential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approach.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60">
                <a:latin typeface="Tahoma"/>
                <a:cs typeface="Tahoma"/>
              </a:rPr>
              <a:t>Phases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include: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 spc="-10">
                <a:latin typeface="Tahoma"/>
                <a:cs typeface="Tahoma"/>
              </a:rPr>
              <a:t>Requirements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 spc="-10">
                <a:latin typeface="Tahoma"/>
                <a:cs typeface="Tahoma"/>
              </a:rPr>
              <a:t>Design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buChar char="•"/>
              <a:tabLst>
                <a:tab pos="510540" algn="l"/>
              </a:tabLst>
            </a:pPr>
            <a:r>
              <a:rPr dirty="0" sz="2000" spc="-10">
                <a:latin typeface="Tahoma"/>
                <a:cs typeface="Tahoma"/>
              </a:rPr>
              <a:t>Development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 spc="-10">
                <a:latin typeface="Tahoma"/>
                <a:cs typeface="Tahoma"/>
              </a:rPr>
              <a:t>Testing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 spc="-10">
                <a:latin typeface="Tahoma"/>
                <a:cs typeface="Tahoma"/>
              </a:rPr>
              <a:t>Deployment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80">
                <a:latin typeface="Tahoma"/>
                <a:cs typeface="Tahoma"/>
              </a:rPr>
              <a:t>Best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suited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for projects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with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stable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requirements.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EC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F4DD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5350" y="0"/>
            <a:ext cx="0" cy="5943600"/>
          </a:xfrm>
          <a:custGeom>
            <a:avLst/>
            <a:gdLst/>
            <a:ahLst/>
            <a:cxnLst/>
            <a:rect l="l" t="t" r="r" b="b"/>
            <a:pathLst>
              <a:path w="0" h="5943600">
                <a:moveTo>
                  <a:pt x="0" y="0"/>
                </a:moveTo>
                <a:lnTo>
                  <a:pt x="0" y="5943600"/>
                </a:lnTo>
              </a:path>
            </a:pathLst>
          </a:custGeom>
          <a:ln w="19050">
            <a:solidFill>
              <a:srgbClr val="DF99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45"/>
              <a:t>Agile</a:t>
            </a:r>
            <a:r>
              <a:rPr dirty="0" spc="-25"/>
              <a:t> </a:t>
            </a:r>
            <a:r>
              <a:rPr dirty="0"/>
              <a:t>vs</a:t>
            </a:r>
            <a:r>
              <a:rPr dirty="0" spc="-80"/>
              <a:t> </a:t>
            </a:r>
            <a:r>
              <a:rPr dirty="0" spc="50"/>
              <a:t>Waterfall</a:t>
            </a:r>
            <a:r>
              <a:rPr dirty="0" spc="-50"/>
              <a:t> </a:t>
            </a:r>
            <a:r>
              <a:rPr dirty="0" spc="-10"/>
              <a:t>(Comparison)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5" y="1619250"/>
            <a:ext cx="7181850" cy="4581525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60"/>
              <a:t>Stakeholder</a:t>
            </a:r>
            <a:r>
              <a:rPr dirty="0" spc="-55"/>
              <a:t> </a:t>
            </a:r>
            <a:r>
              <a:rPr dirty="0" spc="114"/>
              <a:t>Management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Stakeholder</a:t>
            </a:r>
            <a:r>
              <a:rPr dirty="0" spc="30"/>
              <a:t> </a:t>
            </a:r>
            <a:r>
              <a:rPr dirty="0"/>
              <a:t>management</a:t>
            </a:r>
            <a:r>
              <a:rPr dirty="0" spc="130"/>
              <a:t> </a:t>
            </a:r>
            <a:r>
              <a:rPr dirty="0" spc="-10"/>
              <a:t>involves:</a:t>
            </a:r>
          </a:p>
          <a:p>
            <a:pPr algn="r" marL="297815" marR="3982085" indent="-29781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pc="100"/>
              <a:t>•</a:t>
            </a:r>
            <a:r>
              <a:rPr dirty="0" spc="-100"/>
              <a:t> </a:t>
            </a:r>
            <a:r>
              <a:rPr dirty="0" spc="-10"/>
              <a:t>Identifying</a:t>
            </a:r>
            <a:r>
              <a:rPr dirty="0" spc="-70"/>
              <a:t> </a:t>
            </a:r>
            <a:r>
              <a:rPr dirty="0" spc="-10"/>
              <a:t>stakeholders</a:t>
            </a:r>
          </a:p>
          <a:p>
            <a:pPr algn="r" lvl="1" marL="199390" marR="391922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199390" algn="l"/>
              </a:tabLst>
            </a:pPr>
            <a:r>
              <a:rPr dirty="0" sz="2000">
                <a:latin typeface="Tahoma"/>
                <a:cs typeface="Tahoma"/>
              </a:rPr>
              <a:t>Analyzing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their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influence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Managing</a:t>
            </a:r>
            <a:r>
              <a:rPr dirty="0" sz="2000" spc="11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expectations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Maintaining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transparent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communication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Effective</a:t>
            </a:r>
            <a:r>
              <a:rPr dirty="0" spc="140"/>
              <a:t> </a:t>
            </a:r>
            <a:r>
              <a:rPr dirty="0"/>
              <a:t>stakeholder</a:t>
            </a:r>
            <a:r>
              <a:rPr dirty="0" spc="50"/>
              <a:t> </a:t>
            </a:r>
            <a:r>
              <a:rPr dirty="0"/>
              <a:t>engagement</a:t>
            </a:r>
            <a:r>
              <a:rPr dirty="0" spc="50"/>
              <a:t> </a:t>
            </a:r>
            <a:r>
              <a:rPr dirty="0"/>
              <a:t>increases</a:t>
            </a:r>
            <a:r>
              <a:rPr dirty="0" spc="100"/>
              <a:t> </a:t>
            </a:r>
            <a:r>
              <a:rPr dirty="0"/>
              <a:t>project</a:t>
            </a:r>
            <a:r>
              <a:rPr dirty="0" spc="145"/>
              <a:t> </a:t>
            </a:r>
            <a:r>
              <a:rPr dirty="0" spc="45"/>
              <a:t>success.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60"/>
              <a:t>Scenario</a:t>
            </a:r>
            <a:r>
              <a:rPr dirty="0" spc="10"/>
              <a:t> </a:t>
            </a:r>
            <a:r>
              <a:rPr dirty="0" spc="85"/>
              <a:t>Analysis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6768465" cy="22612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Scenario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evaluates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different</a:t>
            </a:r>
            <a:r>
              <a:rPr dirty="0" sz="2000" spc="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possible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futures:</a:t>
            </a:r>
            <a:endParaRPr sz="2000">
              <a:latin typeface="Tahoma"/>
              <a:cs typeface="Tahoma"/>
            </a:endParaRPr>
          </a:p>
          <a:p>
            <a:pPr marL="310515" indent="-29781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310515" algn="l"/>
              </a:tabLst>
            </a:pPr>
            <a:r>
              <a:rPr dirty="0" sz="2000" spc="100">
                <a:latin typeface="Tahoma"/>
                <a:cs typeface="Tahoma"/>
              </a:rPr>
              <a:t>•</a:t>
            </a:r>
            <a:r>
              <a:rPr dirty="0" sz="2000" spc="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Best-case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scenario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Worst-case</a:t>
            </a:r>
            <a:r>
              <a:rPr dirty="0" sz="2000" spc="1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scenario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Most-likely</a:t>
            </a:r>
            <a:r>
              <a:rPr dirty="0" sz="2000" spc="19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scenario</a:t>
            </a:r>
            <a:endParaRPr sz="2000">
              <a:latin typeface="Tahoma"/>
              <a:cs typeface="Tahoma"/>
            </a:endParaRPr>
          </a:p>
          <a:p>
            <a:pPr marL="241300" marR="5080" indent="-228600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100">
                <a:latin typeface="Tahoma"/>
                <a:cs typeface="Tahoma"/>
              </a:rPr>
              <a:t>It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helps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organizations prepare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for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risks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make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strategic decisions.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65"/>
              <a:t>Data</a:t>
            </a:r>
            <a:r>
              <a:rPr dirty="0" spc="-75"/>
              <a:t> </a:t>
            </a:r>
            <a:r>
              <a:rPr dirty="0" spc="75"/>
              <a:t>Governance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6826250" cy="22612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governance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ensures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that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-30">
                <a:latin typeface="Tahoma"/>
                <a:cs typeface="Tahoma"/>
              </a:rPr>
              <a:t>data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is:</a:t>
            </a:r>
            <a:endParaRPr sz="2000">
              <a:latin typeface="Tahoma"/>
              <a:cs typeface="Tahoma"/>
            </a:endParaRPr>
          </a:p>
          <a:p>
            <a:pPr marL="310515" indent="-29781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310515" algn="l"/>
              </a:tabLst>
            </a:pPr>
            <a:r>
              <a:rPr dirty="0" sz="2000" spc="100">
                <a:latin typeface="Tahoma"/>
                <a:cs typeface="Tahoma"/>
              </a:rPr>
              <a:t>•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Accurate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 spc="-10">
                <a:latin typeface="Tahoma"/>
                <a:cs typeface="Tahoma"/>
              </a:rPr>
              <a:t>Secure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 spc="-10">
                <a:latin typeface="Tahoma"/>
                <a:cs typeface="Tahoma"/>
              </a:rPr>
              <a:t>Consistent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buChar char="•"/>
              <a:tabLst>
                <a:tab pos="510540" algn="l"/>
              </a:tabLst>
            </a:pPr>
            <a:r>
              <a:rPr dirty="0" sz="2000" spc="65">
                <a:latin typeface="Tahoma"/>
                <a:cs typeface="Tahoma"/>
              </a:rPr>
              <a:t>Used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responsibly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100">
                <a:latin typeface="Tahoma"/>
                <a:cs typeface="Tahoma"/>
              </a:rPr>
              <a:t>It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defines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roles, policies, </a:t>
            </a:r>
            <a:r>
              <a:rPr dirty="0" sz="2000" spc="-10">
                <a:latin typeface="Tahoma"/>
                <a:cs typeface="Tahoma"/>
              </a:rPr>
              <a:t>and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standards for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managing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data.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60"/>
              <a:t>Ethical</a:t>
            </a:r>
            <a:r>
              <a:rPr dirty="0" spc="-55"/>
              <a:t> </a:t>
            </a:r>
            <a:r>
              <a:rPr dirty="0" spc="80"/>
              <a:t>Use</a:t>
            </a:r>
            <a:r>
              <a:rPr dirty="0" spc="-20"/>
              <a:t> </a:t>
            </a:r>
            <a:r>
              <a:rPr dirty="0" spc="80"/>
              <a:t>of</a:t>
            </a:r>
            <a:r>
              <a:rPr dirty="0" spc="-60"/>
              <a:t> </a:t>
            </a:r>
            <a:r>
              <a:rPr dirty="0" spc="45"/>
              <a:t>Data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6920230" cy="22612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Ethical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data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use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includes:</a:t>
            </a:r>
            <a:endParaRPr sz="2000">
              <a:latin typeface="Tahoma"/>
              <a:cs typeface="Tahoma"/>
            </a:endParaRPr>
          </a:p>
          <a:p>
            <a:pPr marL="310515" indent="-29781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310515" algn="l"/>
              </a:tabLst>
            </a:pPr>
            <a:r>
              <a:rPr dirty="0" sz="2000" spc="100">
                <a:latin typeface="Tahoma"/>
                <a:cs typeface="Tahoma"/>
              </a:rPr>
              <a:t>•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Transparency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and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consent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minimization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spcBef>
                <a:spcPts val="5"/>
              </a:spcBef>
              <a:buChar char="•"/>
              <a:tabLst>
                <a:tab pos="510540" algn="l"/>
              </a:tabLst>
            </a:pPr>
            <a:r>
              <a:rPr dirty="0" sz="2000">
                <a:latin typeface="Tahoma"/>
                <a:cs typeface="Tahoma"/>
              </a:rPr>
              <a:t>Fairness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-65">
                <a:latin typeface="Tahoma"/>
                <a:cs typeface="Tahoma"/>
              </a:rPr>
              <a:t>non-</a:t>
            </a:r>
            <a:r>
              <a:rPr dirty="0" sz="2000" spc="-10">
                <a:latin typeface="Tahoma"/>
                <a:cs typeface="Tahoma"/>
              </a:rPr>
              <a:t>discrimination</a:t>
            </a:r>
            <a:endParaRPr sz="2000">
              <a:latin typeface="Tahoma"/>
              <a:cs typeface="Tahoma"/>
            </a:endParaRPr>
          </a:p>
          <a:p>
            <a:pPr lvl="1" marL="510540" indent="-199390">
              <a:lnSpc>
                <a:spcPct val="100000"/>
              </a:lnSpc>
              <a:buChar char="•"/>
              <a:tabLst>
                <a:tab pos="510540" algn="l"/>
              </a:tabLst>
            </a:pPr>
            <a:r>
              <a:rPr dirty="0" sz="2000" spc="-10">
                <a:latin typeface="Tahoma"/>
                <a:cs typeface="Tahoma"/>
              </a:rPr>
              <a:t>Accountability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Organizations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must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protect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user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privacy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and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maintain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trust.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14"/>
              <a:t>GDPR</a:t>
            </a:r>
            <a:r>
              <a:rPr dirty="0" spc="-75"/>
              <a:t> </a:t>
            </a:r>
            <a:r>
              <a:rPr dirty="0"/>
              <a:t>vs</a:t>
            </a:r>
            <a:r>
              <a:rPr dirty="0" spc="-30"/>
              <a:t> </a:t>
            </a:r>
            <a:r>
              <a:rPr dirty="0" spc="100"/>
              <a:t>CCPA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6579234" cy="16510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Both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regulations</a:t>
            </a:r>
            <a:r>
              <a:rPr dirty="0" sz="2000" spc="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protect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personal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data.</a:t>
            </a:r>
            <a:endParaRPr sz="2000">
              <a:latin typeface="Tahoma"/>
              <a:cs typeface="Tahoma"/>
            </a:endParaRPr>
          </a:p>
          <a:p>
            <a:pPr marL="312420" marR="5080" indent="-30035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312420" algn="l"/>
              </a:tabLst>
            </a:pPr>
            <a:r>
              <a:rPr dirty="0" sz="2000" spc="100">
                <a:latin typeface="Tahoma"/>
                <a:cs typeface="Tahoma"/>
              </a:rPr>
              <a:t>GDPR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–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European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Union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regulation,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strict</a:t>
            </a:r>
            <a:r>
              <a:rPr dirty="0" sz="2000" spc="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consent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rules </a:t>
            </a:r>
            <a:r>
              <a:rPr dirty="0" sz="2000" spc="130">
                <a:latin typeface="Tahoma"/>
                <a:cs typeface="Tahoma"/>
              </a:rPr>
              <a:t>CCPA</a:t>
            </a:r>
            <a:r>
              <a:rPr dirty="0" sz="2000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–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California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law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focused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on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consumer</a:t>
            </a:r>
            <a:r>
              <a:rPr dirty="0" sz="2000" spc="-10">
                <a:latin typeface="Tahoma"/>
                <a:cs typeface="Tahoma"/>
              </a:rPr>
              <a:t> rights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25">
                <a:latin typeface="Tahoma"/>
                <a:cs typeface="Tahoma"/>
              </a:rPr>
              <a:t>Non-</a:t>
            </a:r>
            <a:r>
              <a:rPr dirty="0" sz="2000">
                <a:latin typeface="Tahoma"/>
                <a:cs typeface="Tahoma"/>
              </a:rPr>
              <a:t>compliance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can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result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heavy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penalties.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90"/>
              <a:t>Conclusion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  <a:r>
              <a:rPr dirty="0" spc="-25"/>
              <a:t> 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7325" y="2093277"/>
            <a:ext cx="6082030" cy="27762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1300" marR="66675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10">
                <a:latin typeface="Tahoma"/>
                <a:cs typeface="Tahoma"/>
              </a:rPr>
              <a:t>Information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Technology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is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backbone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modern business.</a:t>
            </a:r>
            <a:endParaRPr sz="2000">
              <a:latin typeface="Tahoma"/>
              <a:cs typeface="Tahoma"/>
            </a:endParaRPr>
          </a:p>
          <a:p>
            <a:pPr marL="241300" marR="525780" indent="-228600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100">
                <a:latin typeface="Tahoma"/>
                <a:cs typeface="Tahoma"/>
              </a:rPr>
              <a:t>ERP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and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business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improve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operational efficiency.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55">
                <a:latin typeface="Tahoma"/>
                <a:cs typeface="Tahoma"/>
              </a:rPr>
              <a:t>Data-</a:t>
            </a:r>
            <a:r>
              <a:rPr dirty="0" sz="2000">
                <a:latin typeface="Tahoma"/>
                <a:cs typeface="Tahoma"/>
              </a:rPr>
              <a:t>driven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strategy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enhances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competitiveness.</a:t>
            </a:r>
            <a:endParaRPr sz="2000">
              <a:latin typeface="Tahoma"/>
              <a:cs typeface="Tahoma"/>
            </a:endParaRPr>
          </a:p>
          <a:p>
            <a:pPr marL="241300" marR="5080" indent="-228600">
              <a:lnSpc>
                <a:spcPct val="100000"/>
              </a:lnSpc>
              <a:spcBef>
                <a:spcPts val="16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ahoma"/>
                <a:cs typeface="Tahoma"/>
              </a:rPr>
              <a:t>Strong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alignment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between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business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and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145">
                <a:latin typeface="Tahoma"/>
                <a:cs typeface="Tahoma"/>
              </a:rPr>
              <a:t>IT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ensures </a:t>
            </a:r>
            <a:r>
              <a:rPr dirty="0" sz="2000" spc="-50">
                <a:latin typeface="Tahoma"/>
                <a:cs typeface="Tahoma"/>
              </a:rPr>
              <a:t>long-</a:t>
            </a:r>
            <a:r>
              <a:rPr dirty="0" sz="2000">
                <a:latin typeface="Tahoma"/>
                <a:cs typeface="Tahoma"/>
              </a:rPr>
              <a:t>term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success.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40626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914400" cy="6858000"/>
            <a:chOff x="0" y="0"/>
            <a:chExt cx="914400" cy="6858000"/>
          </a:xfrm>
        </p:grpSpPr>
        <p:sp>
          <p:nvSpPr>
            <p:cNvPr id="4" name="object 4" descr=""/>
            <p:cNvSpPr/>
            <p:nvPr/>
          </p:nvSpPr>
          <p:spPr>
            <a:xfrm>
              <a:off x="0" y="59436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D4E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9535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w="0"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19050">
              <a:solidFill>
                <a:srgbClr val="F3EC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97253" y="4050601"/>
            <a:ext cx="2209165" cy="1761489"/>
          </a:xfrm>
          <a:prstGeom prst="rect"/>
        </p:spPr>
        <p:txBody>
          <a:bodyPr wrap="square" lIns="0" tIns="119380" rIns="0" bIns="0" rtlCol="0" vert="horz">
            <a:spAutoFit/>
          </a:bodyPr>
          <a:lstStyle/>
          <a:p>
            <a:pPr marL="12700" marR="5080">
              <a:lnSpc>
                <a:spcPts val="6459"/>
              </a:lnSpc>
              <a:spcBef>
                <a:spcPts val="940"/>
              </a:spcBef>
            </a:pPr>
            <a:r>
              <a:rPr dirty="0" sz="6000" spc="140">
                <a:solidFill>
                  <a:srgbClr val="FFFFFF"/>
                </a:solidFill>
              </a:rPr>
              <a:t>Thank </a:t>
            </a:r>
            <a:r>
              <a:rPr dirty="0" sz="6000" spc="135">
                <a:solidFill>
                  <a:srgbClr val="FFFFFF"/>
                </a:solidFill>
              </a:rPr>
              <a:t>you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2026-02-19T03:42:57Z</dcterms:created>
  <dcterms:modified xsi:type="dcterms:W3CDTF">2026-02-19T03:42:57Z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2026-02-18T00:00:00Z</vt:filetime>
  </property>
  <property fmtid="{D5CDD505-2E9C-101B-9397-08002B2CF9AE}" pid="3" name="LastSaved">
    <vt:filetime>2026-02-19T00:00:00Z</vt:filetime>
  </property>
</Properties>
</file>